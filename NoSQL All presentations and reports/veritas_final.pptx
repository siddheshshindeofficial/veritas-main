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85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893" autoAdjust="0"/>
  </p:normalViewPr>
  <p:slideViewPr>
    <p:cSldViewPr snapToGrid="0">
      <p:cViewPr>
        <p:scale>
          <a:sx n="69" d="100"/>
          <a:sy n="69" d="100"/>
        </p:scale>
        <p:origin x="326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B7C702-BEF8-43E2-8CE1-FB0FAAC920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08F291-A1DB-4BF6-BCAF-AFAF61F187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35D84F-3DD4-43D5-8BAF-8E577A7430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ABAA1-C78D-4290-BC59-6750560254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D6BF13-D55A-42BF-B0A1-34983190BF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CE64A-64CC-4302-A7BF-6BFA44F5C4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1257A-3BAC-48D1-964E-81547931B8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286C95-F115-4E7F-8D6E-A2534E07DA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213196-480F-4910-BC59-D8A9A07AAE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7805C4-84F2-4597-842C-BBFDCDA2EC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CBBFAF-5D34-4652-9C85-066B3459AC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364E23-DE87-402D-8CB8-B0BFFF6A4D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72B8E4-965E-442C-93A2-807F6B2DB2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F3A526-EC51-4F28-998F-61B45596B2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51B667-03CC-432D-ABE9-2B22992945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3FD742-EDEE-4E77-B06B-BC12DB7C63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D03919-1F2D-46AF-923A-A0DB15D5BE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4D807-6898-4690-BFB5-AAA0A3C693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AE7D1A-59F0-4D1A-9853-DE345FAB38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E96AFC-B9FC-42A0-B21D-7A2D3A5D52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3B825C-7D21-4C73-BCE6-EB17A9DCAB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CB6CA0-45A2-4816-A8FB-E389C4989F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4C5D61-BA5F-4849-B71D-ECBF777664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A1FEBD-C03A-47C5-9D1E-FA54D9BB00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D84637F-D61A-4AAD-8E8C-7224AB06B6D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2191400" cy="5004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02920" y="6501240"/>
            <a:ext cx="11183040" cy="360"/>
          </a:xfrm>
          <a:prstGeom prst="line">
            <a:avLst/>
          </a:prstGeom>
          <a:ln w="9000">
            <a:solidFill>
              <a:srgbClr val="1D34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26C3EA1-7469-47BF-8593-AA368B0BA583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0B12"/>
          </a:solidFill>
          <a:ln w="12600">
            <a:solidFill>
              <a:srgbClr val="070B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7543800" y="1051560"/>
            <a:ext cx="594000" cy="594000"/>
          </a:xfrm>
          <a:prstGeom prst="ellipse">
            <a:avLst/>
          </a:prstGeom>
          <a:solidFill>
            <a:srgbClr val="162838"/>
          </a:solidFill>
          <a:ln w="2016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8778240" y="1051560"/>
            <a:ext cx="594000" cy="594000"/>
          </a:xfrm>
          <a:prstGeom prst="ellipse">
            <a:avLst/>
          </a:prstGeom>
          <a:solidFill>
            <a:srgbClr val="111E2B"/>
          </a:solidFill>
          <a:ln w="2016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10012680" y="1051560"/>
            <a:ext cx="594000" cy="594000"/>
          </a:xfrm>
          <a:prstGeom prst="ellipse">
            <a:avLst/>
          </a:prstGeom>
          <a:solidFill>
            <a:srgbClr val="162838"/>
          </a:solidFill>
          <a:ln w="2016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7543800" y="2468880"/>
            <a:ext cx="594000" cy="594000"/>
          </a:xfrm>
          <a:prstGeom prst="ellipse">
            <a:avLst/>
          </a:prstGeom>
          <a:solidFill>
            <a:srgbClr val="111E2B"/>
          </a:solidFill>
          <a:ln w="2016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8778240" y="2468880"/>
            <a:ext cx="594000" cy="594000"/>
          </a:xfrm>
          <a:prstGeom prst="ellipse">
            <a:avLst/>
          </a:prstGeom>
          <a:solidFill>
            <a:srgbClr val="162838"/>
          </a:solidFill>
          <a:ln w="2016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10012680" y="2468880"/>
            <a:ext cx="594000" cy="594000"/>
          </a:xfrm>
          <a:prstGeom prst="ellipse">
            <a:avLst/>
          </a:prstGeom>
          <a:solidFill>
            <a:srgbClr val="111E2B"/>
          </a:solidFill>
          <a:ln w="2016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8138160" y="1343880"/>
            <a:ext cx="640080" cy="360"/>
          </a:xfrm>
          <a:prstGeom prst="line">
            <a:avLst/>
          </a:prstGeom>
          <a:ln w="19080">
            <a:solidFill>
              <a:srgbClr val="67D9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9372600" y="1343880"/>
            <a:ext cx="640080" cy="360"/>
          </a:xfrm>
          <a:prstGeom prst="line">
            <a:avLst/>
          </a:prstGeom>
          <a:ln w="19080">
            <a:solidFill>
              <a:srgbClr val="B99C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8138160" y="2761200"/>
            <a:ext cx="640080" cy="360"/>
          </a:xfrm>
          <a:prstGeom prst="line">
            <a:avLst/>
          </a:prstGeom>
          <a:ln w="19080">
            <a:solidFill>
              <a:srgbClr val="70E0A4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9372600" y="2761200"/>
            <a:ext cx="640080" cy="360"/>
          </a:xfrm>
          <a:prstGeom prst="line">
            <a:avLst/>
          </a:prstGeom>
          <a:ln w="19080">
            <a:solidFill>
              <a:srgbClr val="FF7189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7836120" y="1645920"/>
            <a:ext cx="360" cy="822960"/>
          </a:xfrm>
          <a:prstGeom prst="line">
            <a:avLst/>
          </a:prstGeom>
          <a:ln w="1404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9070560" y="1645920"/>
            <a:ext cx="360" cy="822960"/>
          </a:xfrm>
          <a:prstGeom prst="line">
            <a:avLst/>
          </a:prstGeom>
          <a:ln w="1404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10305000" y="1645920"/>
            <a:ext cx="360" cy="822960"/>
          </a:xfrm>
          <a:prstGeom prst="line">
            <a:avLst/>
          </a:prstGeom>
          <a:ln w="1404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7406640" y="3977640"/>
            <a:ext cx="3840120" cy="1170000"/>
          </a:xfrm>
          <a:prstGeom prst="roundRect">
            <a:avLst>
              <a:gd name="adj" fmla="val 9375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7607880" y="4215240"/>
            <a:ext cx="344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CLAIMS  →  EVIDENCE  →  SYNTHESIS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7735680" y="4645080"/>
            <a:ext cx="3181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A debate is more than an answer.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685800" y="822960"/>
            <a:ext cx="58518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 spc="249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VERITAS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713160" y="1856160"/>
            <a:ext cx="6080400" cy="9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An Evidence-Aware, Temporal and Explainable Database for Evolving AI Debates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731520" y="2999160"/>
            <a:ext cx="56689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From answering questions to understanding how positions evolve.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0"/>
          <p:cNvSpPr/>
          <p:nvPr/>
        </p:nvSpPr>
        <p:spPr>
          <a:xfrm>
            <a:off x="731520" y="3776400"/>
            <a:ext cx="10785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786240" y="3794760"/>
            <a:ext cx="968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MONGODB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2"/>
          <p:cNvSpPr/>
          <p:nvPr/>
        </p:nvSpPr>
        <p:spPr>
          <a:xfrm>
            <a:off x="1920240" y="3776400"/>
            <a:ext cx="93240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1974960" y="3794760"/>
            <a:ext cx="822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FASTAPI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4"/>
          <p:cNvSpPr/>
          <p:nvPr/>
        </p:nvSpPr>
        <p:spPr>
          <a:xfrm>
            <a:off x="2962800" y="3776400"/>
            <a:ext cx="8499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5"/>
          <p:cNvSpPr/>
          <p:nvPr/>
        </p:nvSpPr>
        <p:spPr>
          <a:xfrm>
            <a:off x="3017520" y="3794760"/>
            <a:ext cx="7401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REACT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6"/>
          <p:cNvSpPr/>
          <p:nvPr/>
        </p:nvSpPr>
        <p:spPr>
          <a:xfrm>
            <a:off x="3922920" y="3776400"/>
            <a:ext cx="13071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7"/>
          <p:cNvSpPr/>
          <p:nvPr/>
        </p:nvSpPr>
        <p:spPr>
          <a:xfrm>
            <a:off x="3977640" y="3794760"/>
            <a:ext cx="11973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AI-ASSISTED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8"/>
          <p:cNvSpPr/>
          <p:nvPr/>
        </p:nvSpPr>
        <p:spPr>
          <a:xfrm>
            <a:off x="731520" y="521208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Vellore Institute of Technology  •  BCSE406L — NoSQL Databases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9"/>
          <p:cNvSpPr/>
          <p:nvPr/>
        </p:nvSpPr>
        <p:spPr>
          <a:xfrm>
            <a:off x="731520" y="5577840"/>
            <a:ext cx="6309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Project demonstration  |  Fall 2026–27  |  Faculty: Dr. S. Geetha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0"/>
          <p:cNvSpPr/>
          <p:nvPr/>
        </p:nvSpPr>
        <p:spPr>
          <a:xfrm>
            <a:off x="731520" y="5916240"/>
            <a:ext cx="6583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Team: 23BCE1683 • 23BCE1665 • 23BCE5048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ROADMAP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What we will demonstrate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A system walkthrough, not just a list of features.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594360" y="1481400"/>
            <a:ext cx="5211720" cy="1115280"/>
          </a:xfrm>
          <a:prstGeom prst="roundRect">
            <a:avLst>
              <a:gd name="adj" fmla="val 9836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58880" y="1664280"/>
            <a:ext cx="566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1463040" y="166428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Problem &amp; proposed contribution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1463040" y="2039040"/>
            <a:ext cx="4068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Why debates need persistent structure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6126480" y="1481400"/>
            <a:ext cx="5211720" cy="1115280"/>
          </a:xfrm>
          <a:prstGeom prst="roundRect">
            <a:avLst>
              <a:gd name="adj" fmla="val 9836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6291000" y="1664280"/>
            <a:ext cx="566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6995160" y="166428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Architecture &amp; MongoDB model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6995160" y="2039040"/>
            <a:ext cx="4068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How UI, API and documents connect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594360" y="2898720"/>
            <a:ext cx="5211720" cy="1115280"/>
          </a:xfrm>
          <a:prstGeom prst="roundRect">
            <a:avLst>
              <a:gd name="adj" fmla="val 9836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758880" y="3081600"/>
            <a:ext cx="566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1463040" y="308160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Reasoning pipeline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1463040" y="3456360"/>
            <a:ext cx="4068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Scoring, contradictions and history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6126480" y="2898720"/>
            <a:ext cx="5211720" cy="1115280"/>
          </a:xfrm>
          <a:prstGeom prst="roundRect">
            <a:avLst>
              <a:gd name="adj" fmla="val 9836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6291000" y="3081600"/>
            <a:ext cx="566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6995160" y="308160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Application features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6995160" y="3456360"/>
            <a:ext cx="4068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Dashboard, workspace, graph, search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0"/>
          <p:cNvSpPr/>
          <p:nvPr/>
        </p:nvSpPr>
        <p:spPr>
          <a:xfrm>
            <a:off x="594360" y="4316040"/>
            <a:ext cx="5211720" cy="1115280"/>
          </a:xfrm>
          <a:prstGeom prst="roundRect">
            <a:avLst>
              <a:gd name="adj" fmla="val 9836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758880" y="4498920"/>
            <a:ext cx="566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1463040" y="449892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Database engineering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1463040" y="4873680"/>
            <a:ext cx="4068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CRUD, queries, indexes and aggregations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4"/>
          <p:cNvSpPr/>
          <p:nvPr/>
        </p:nvSpPr>
        <p:spPr>
          <a:xfrm>
            <a:off x="6126480" y="4316040"/>
            <a:ext cx="5211720" cy="1115280"/>
          </a:xfrm>
          <a:prstGeom prst="roundRect">
            <a:avLst>
              <a:gd name="adj" fmla="val 9836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6291000" y="4498920"/>
            <a:ext cx="566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6995160" y="449892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Live demonstration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6995160" y="4873680"/>
            <a:ext cx="4068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Health → workspace → query → admin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5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94C61F-143C-4129-B5BA-F0071672A855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01 • MOTIVATION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The problem: answers disappear; reasoning is hard to inspect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A fluent response does not automatically preserve its evidence structure.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621720" y="1517760"/>
            <a:ext cx="3245760" cy="3337200"/>
          </a:xfrm>
          <a:prstGeom prst="roundRect">
            <a:avLst>
              <a:gd name="adj" fmla="val 338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621720" y="1517760"/>
            <a:ext cx="50040" cy="3337200"/>
          </a:xfrm>
          <a:prstGeom prst="rect">
            <a:avLst/>
          </a:prstGeom>
          <a:solidFill>
            <a:srgbClr val="FF7189"/>
          </a:solidFill>
          <a:ln w="12600">
            <a:solidFill>
              <a:srgbClr val="FF718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86240" y="1636920"/>
            <a:ext cx="2953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Typical chatbot flow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786240" y="1993320"/>
            <a:ext cx="293472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Question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Generated answer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Conversation ends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Difficult to inspect later: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claim-to-evidence links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provenance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changed assumptions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historical confidence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4462200" y="1517760"/>
            <a:ext cx="3245760" cy="3337200"/>
          </a:xfrm>
          <a:prstGeom prst="roundRect">
            <a:avLst>
              <a:gd name="adj" fmla="val 338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4462200" y="1517760"/>
            <a:ext cx="50040" cy="3337200"/>
          </a:xfrm>
          <a:prstGeom prst="rect">
            <a:avLst/>
          </a:prstGeom>
          <a:solidFill>
            <a:srgbClr val="FFD166"/>
          </a:solidFill>
          <a:ln w="12600">
            <a:solidFill>
              <a:srgbClr val="FFD16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4626720" y="1636920"/>
            <a:ext cx="2953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What researchers need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4626720" y="1993320"/>
            <a:ext cx="293472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Question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Claims and positions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Evidence and counterarguments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Conflicts and uncertainty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New evidence / revised state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8302680" y="1517760"/>
            <a:ext cx="3245760" cy="3337200"/>
          </a:xfrm>
          <a:prstGeom prst="roundRect">
            <a:avLst>
              <a:gd name="adj" fmla="val 338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8302680" y="1517760"/>
            <a:ext cx="50040" cy="3337200"/>
          </a:xfrm>
          <a:prstGeom prst="rect">
            <a:avLst/>
          </a:prstGeom>
          <a:solidFill>
            <a:srgbClr val="70E0A4"/>
          </a:solidFill>
          <a:ln w="12600">
            <a:solidFill>
              <a:srgbClr val="70E0A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8467200" y="1636920"/>
            <a:ext cx="2953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VERITAS approach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8467200" y="1993320"/>
            <a:ext cx="293472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Store the debate as a durable data object.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Each part is queryable and connected.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Selected state changes are kept in history.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The system explains its inputs; it does not prove objective truth.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777240" y="5349240"/>
            <a:ext cx="10606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Core question: how can competing arguments be stored, connected, inspected and updated over time?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sldNum" idx="6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58AAC8-64AD-44A8-B505-974CF6E4F113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01 • CONCEPT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From one question to an evolving knowledge object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debate lifecycle is the central abstraction.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576000" y="1938600"/>
            <a:ext cx="1572480" cy="1142640"/>
          </a:xfrm>
          <a:prstGeom prst="roundRect">
            <a:avLst>
              <a:gd name="adj" fmla="val 9600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649080" y="2011680"/>
            <a:ext cx="142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QUESTION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667440" y="2322720"/>
            <a:ext cx="138960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Domain + scope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2423160" y="1938600"/>
            <a:ext cx="1572480" cy="1142640"/>
          </a:xfrm>
          <a:prstGeom prst="roundRect">
            <a:avLst>
              <a:gd name="adj" fmla="val 9600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2496240" y="2011680"/>
            <a:ext cx="142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CLAIMS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2514600" y="2322720"/>
            <a:ext cx="138960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PRO and CON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4270320" y="1938600"/>
            <a:ext cx="1572480" cy="1142640"/>
          </a:xfrm>
          <a:prstGeom prst="roundRect">
            <a:avLst>
              <a:gd name="adj" fmla="val 9600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4343400" y="2011680"/>
            <a:ext cx="142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EVIDENCE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4361760" y="2322720"/>
            <a:ext cx="138960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Supports / opposes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6117480" y="1938600"/>
            <a:ext cx="1572480" cy="1142640"/>
          </a:xfrm>
          <a:prstGeom prst="roundRect">
            <a:avLst>
              <a:gd name="adj" fmla="val 9600"/>
            </a:avLst>
          </a:prstGeom>
          <a:solidFill>
            <a:srgbClr val="111E2B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6190560" y="2011680"/>
            <a:ext cx="142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CRITIQUE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6208920" y="2322720"/>
            <a:ext cx="138960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Counterarguments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7964280" y="1938600"/>
            <a:ext cx="1572480" cy="1142640"/>
          </a:xfrm>
          <a:prstGeom prst="roundRect">
            <a:avLst>
              <a:gd name="adj" fmla="val 9600"/>
            </a:avLst>
          </a:prstGeom>
          <a:solidFill>
            <a:srgbClr val="111E2B"/>
          </a:solidFill>
          <a:ln w="10080">
            <a:solidFill>
              <a:srgbClr val="FF71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8037720" y="2011680"/>
            <a:ext cx="142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CONFLICTS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8055720" y="2322720"/>
            <a:ext cx="138960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Potential contradictions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9"/>
          <p:cNvSpPr/>
          <p:nvPr/>
        </p:nvSpPr>
        <p:spPr>
          <a:xfrm>
            <a:off x="9811440" y="1938600"/>
            <a:ext cx="1782720" cy="1142640"/>
          </a:xfrm>
          <a:prstGeom prst="roundRect">
            <a:avLst>
              <a:gd name="adj" fmla="val 9600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9884520" y="2011680"/>
            <a:ext cx="163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SYNTHESIS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9902880" y="2322720"/>
            <a:ext cx="159984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Scores + uncertainty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2148840" y="2514600"/>
            <a:ext cx="27432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3"/>
          <p:cNvSpPr/>
          <p:nvPr/>
        </p:nvSpPr>
        <p:spPr>
          <a:xfrm>
            <a:off x="3995640" y="2514600"/>
            <a:ext cx="27432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5842800" y="2514600"/>
            <a:ext cx="27432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5"/>
          <p:cNvSpPr/>
          <p:nvPr/>
        </p:nvSpPr>
        <p:spPr>
          <a:xfrm>
            <a:off x="7689960" y="2514600"/>
            <a:ext cx="27432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6"/>
          <p:cNvSpPr/>
          <p:nvPr/>
        </p:nvSpPr>
        <p:spPr>
          <a:xfrm>
            <a:off x="9537120" y="2514600"/>
            <a:ext cx="27432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7"/>
          <p:cNvSpPr/>
          <p:nvPr/>
        </p:nvSpPr>
        <p:spPr>
          <a:xfrm>
            <a:off x="2011680" y="3822120"/>
            <a:ext cx="8174520" cy="1078560"/>
          </a:xfrm>
          <a:prstGeom prst="roundRect">
            <a:avLst>
              <a:gd name="adj" fmla="val 1016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8"/>
          <p:cNvSpPr/>
          <p:nvPr/>
        </p:nvSpPr>
        <p:spPr>
          <a:xfrm>
            <a:off x="2240280" y="40233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TEMPORAL HISTORY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9"/>
          <p:cNvSpPr/>
          <p:nvPr/>
        </p:nvSpPr>
        <p:spPr>
          <a:xfrm>
            <a:off x="4160520" y="3977640"/>
            <a:ext cx="57146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Records selected events: claim added • evidence added • analysis completed • score snapshot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1"/>
          <p:cNvSpPr/>
          <p:nvPr/>
        </p:nvSpPr>
        <p:spPr>
          <a:xfrm flipV="1">
            <a:off x="2240280" y="3090600"/>
            <a:ext cx="360" cy="731520"/>
          </a:xfrm>
          <a:prstGeom prst="line">
            <a:avLst/>
          </a:prstGeom>
          <a:ln w="12600">
            <a:solidFill>
              <a:srgbClr val="FFD16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sldNum" idx="7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054280-6796-4519-AF6A-D21D4828D88E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02 • ARCHITECTURE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Implemented architecture: three main layers plus services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React requests → FastAPI workflows → PyMongo → MongoDB.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804600" y="1874520"/>
            <a:ext cx="2788560" cy="1234080"/>
          </a:xfrm>
          <a:prstGeom prst="roundRect">
            <a:avLst>
              <a:gd name="adj" fmla="val 8889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877680" y="1947600"/>
            <a:ext cx="2642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896040" y="2258640"/>
            <a:ext cx="260568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React 19 • TypeScript • Vite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Tailwind • TanStack Query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Recharts • React Flow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4681800" y="1874520"/>
            <a:ext cx="2788560" cy="1234080"/>
          </a:xfrm>
          <a:prstGeom prst="roundRect">
            <a:avLst>
              <a:gd name="adj" fmla="val 8889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4754880" y="1947600"/>
            <a:ext cx="2642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BACKEND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4773240" y="2258640"/>
            <a:ext cx="260568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FastAPI • Pydantic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Routes • Validation • Services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Scoring • Analytics • Search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8549640" y="1874520"/>
            <a:ext cx="2788560" cy="1234080"/>
          </a:xfrm>
          <a:prstGeom prst="roundRect">
            <a:avLst>
              <a:gd name="adj" fmla="val 8889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8622720" y="1947600"/>
            <a:ext cx="2642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8641080" y="2258640"/>
            <a:ext cx="260568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MongoDB 7 • Docker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Database: veritas_db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ObjectId references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3593520" y="2486880"/>
            <a:ext cx="1087920" cy="360"/>
          </a:xfrm>
          <a:prstGeom prst="line">
            <a:avLst/>
          </a:prstGeom>
          <a:ln w="23040">
            <a:solidFill>
              <a:srgbClr val="67D9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611880" y="214884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REST / JSON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7470360" y="2486880"/>
            <a:ext cx="1079280" cy="360"/>
          </a:xfrm>
          <a:prstGeom prst="line">
            <a:avLst/>
          </a:prstGeom>
          <a:ln w="23040">
            <a:solidFill>
              <a:srgbClr val="B99C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7534800" y="214884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PyMongo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685800" y="4096440"/>
            <a:ext cx="2057040" cy="1051200"/>
          </a:xfrm>
          <a:prstGeom prst="roundRect">
            <a:avLst>
              <a:gd name="adj" fmla="val 10435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795600" y="4251960"/>
            <a:ext cx="1837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Scoring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795600" y="4617720"/>
            <a:ext cx="1837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Evidence + claim scores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0"/>
          <p:cNvSpPr/>
          <p:nvPr/>
        </p:nvSpPr>
        <p:spPr>
          <a:xfrm flipH="1">
            <a:off x="1709640" y="3126960"/>
            <a:ext cx="4361760" cy="969480"/>
          </a:xfrm>
          <a:prstGeom prst="line">
            <a:avLst/>
          </a:prstGeom>
          <a:ln w="1008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2999160" y="4096440"/>
            <a:ext cx="2057040" cy="1051200"/>
          </a:xfrm>
          <a:prstGeom prst="roundRect">
            <a:avLst>
              <a:gd name="adj" fmla="val 10435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3108960" y="4251960"/>
            <a:ext cx="1837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Contradictions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3108960" y="4617720"/>
            <a:ext cx="1837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Potential conflicts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4"/>
          <p:cNvSpPr/>
          <p:nvPr/>
        </p:nvSpPr>
        <p:spPr>
          <a:xfrm flipH="1">
            <a:off x="4023360" y="3126960"/>
            <a:ext cx="2048040" cy="969480"/>
          </a:xfrm>
          <a:prstGeom prst="line">
            <a:avLst/>
          </a:prstGeom>
          <a:ln w="1008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5312520" y="4096440"/>
            <a:ext cx="2057040" cy="1051200"/>
          </a:xfrm>
          <a:prstGeom prst="roundRect">
            <a:avLst>
              <a:gd name="adj" fmla="val 10435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5422320" y="4251960"/>
            <a:ext cx="1837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Temporal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5422320" y="4617720"/>
            <a:ext cx="1837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History snapshots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8"/>
          <p:cNvSpPr/>
          <p:nvPr/>
        </p:nvSpPr>
        <p:spPr>
          <a:xfrm>
            <a:off x="6071400" y="3126960"/>
            <a:ext cx="265320" cy="969480"/>
          </a:xfrm>
          <a:prstGeom prst="line">
            <a:avLst/>
          </a:prstGeom>
          <a:ln w="1008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7626240" y="4096440"/>
            <a:ext cx="2057040" cy="1051200"/>
          </a:xfrm>
          <a:prstGeom prst="roundRect">
            <a:avLst>
              <a:gd name="adj" fmla="val 10435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7735680" y="4251960"/>
            <a:ext cx="1837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Search / Analytics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7735680" y="4617720"/>
            <a:ext cx="1837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Queries + aggregations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6071400" y="3126960"/>
            <a:ext cx="2578680" cy="969480"/>
          </a:xfrm>
          <a:prstGeom prst="line">
            <a:avLst/>
          </a:prstGeom>
          <a:ln w="1008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3"/>
          <p:cNvSpPr/>
          <p:nvPr/>
        </p:nvSpPr>
        <p:spPr>
          <a:xfrm>
            <a:off x="9939600" y="4096440"/>
            <a:ext cx="2057040" cy="1051200"/>
          </a:xfrm>
          <a:prstGeom prst="roundRect">
            <a:avLst>
              <a:gd name="adj" fmla="val 10435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10049400" y="4251960"/>
            <a:ext cx="1837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AI adapter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10049400" y="4617720"/>
            <a:ext cx="1837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Optional LLM + fallback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6071400" y="3126960"/>
            <a:ext cx="4892040" cy="969480"/>
          </a:xfrm>
          <a:prstGeom prst="line">
            <a:avLst/>
          </a:prstGeom>
          <a:ln w="1008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777240" y="5596200"/>
            <a:ext cx="157248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831960" y="5614560"/>
            <a:ext cx="1462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LOCAL DEVELOPMENT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2560320" y="559620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MongoDB may be unavailable while the API process remains up; data endpoints then report errors or degraded health.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sldNum" idx="8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16A02A-8238-457C-B08A-64E618558872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02 • ARCHITECTURE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Technology stack and why each part is used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Choose tools that support the project requirements without unnecessary infrastructure.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685800" y="148140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841320" y="157284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896040" y="159120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React + TypeScript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3401640" y="155448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Component UI, typed frontend data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685800" y="202068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841320" y="211212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896040" y="213048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Vite + Tailwind CSS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3401640" y="209412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Fast development server and consistent styling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685800" y="256032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841320" y="265176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896040" y="267012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TanStack Query + Router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3401640" y="263340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Fetch/cache server data and manage navigation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685800" y="309996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841320" y="319140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896040" y="320940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Recharts + React Flow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3401640" y="31730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Timeline / KPI charts and argument graph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0"/>
          <p:cNvSpPr/>
          <p:nvPr/>
        </p:nvSpPr>
        <p:spPr>
          <a:xfrm>
            <a:off x="685800" y="363924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841320" y="373068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896040" y="374904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FastAPI + Pydantic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3401640" y="371232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REST API, schema validation, typed requests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685800" y="417888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5"/>
          <p:cNvSpPr/>
          <p:nvPr/>
        </p:nvSpPr>
        <p:spPr>
          <a:xfrm>
            <a:off x="841320" y="427032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896040" y="428868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PyMongo + MongoDB 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3401640" y="425196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Document reads/writes, references, aggregation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8"/>
          <p:cNvSpPr/>
          <p:nvPr/>
        </p:nvSpPr>
        <p:spPr>
          <a:xfrm>
            <a:off x="685800" y="471816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9"/>
          <p:cNvSpPr/>
          <p:nvPr/>
        </p:nvSpPr>
        <p:spPr>
          <a:xfrm>
            <a:off x="841320" y="480960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896040" y="482796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OpenAI-compatible adapter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1"/>
          <p:cNvSpPr/>
          <p:nvPr/>
        </p:nvSpPr>
        <p:spPr>
          <a:xfrm>
            <a:off x="3401640" y="479160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Optional structured synthesis generation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2"/>
          <p:cNvSpPr/>
          <p:nvPr/>
        </p:nvSpPr>
        <p:spPr>
          <a:xfrm>
            <a:off x="685800" y="5257800"/>
            <a:ext cx="10816920" cy="438480"/>
          </a:xfrm>
          <a:prstGeom prst="roundRect">
            <a:avLst>
              <a:gd name="adj" fmla="val 2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3"/>
          <p:cNvSpPr/>
          <p:nvPr/>
        </p:nvSpPr>
        <p:spPr>
          <a:xfrm>
            <a:off x="841320" y="5349240"/>
            <a:ext cx="2331360" cy="255600"/>
          </a:xfrm>
          <a:prstGeom prst="roundRect">
            <a:avLst>
              <a:gd name="adj" fmla="val 42857"/>
            </a:avLst>
          </a:prstGeom>
          <a:solidFill>
            <a:srgbClr val="111E2B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4"/>
          <p:cNvSpPr/>
          <p:nvPr/>
        </p:nvSpPr>
        <p:spPr>
          <a:xfrm>
            <a:off x="896040" y="5367600"/>
            <a:ext cx="2221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Deterministic fallback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5"/>
          <p:cNvSpPr/>
          <p:nvPr/>
        </p:nvSpPr>
        <p:spPr>
          <a:xfrm>
            <a:off x="3401640" y="533088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Keep local demo usable without an LLM key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6"/>
          <p:cNvSpPr/>
          <p:nvPr/>
        </p:nvSpPr>
        <p:spPr>
          <a:xfrm>
            <a:off x="822960" y="594360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Intentionally not used: Kubernetes, Kafka, Redis clusters or microservice sprawl.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sldNum" idx="9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71B2622-7B68-4DF4-AB1A-0D372D41E1D2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03 • DATABASE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MongoDB data model: nine intended collections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Eight collections were tracked by the latest runtime health check; audit_logs is intended but may be empty.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594360" y="141732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594360" y="1417320"/>
            <a:ext cx="50040" cy="114264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758880" y="153612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debates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58880" y="18928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Question, domain, status, metadata and embedded current_synthesis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4480560" y="141732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4480560" y="1417320"/>
            <a:ext cx="50040" cy="114264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645080" y="153612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claims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4645080" y="18928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PRO/CON text, confidence, tags and debate reference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8366760" y="141732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8366760" y="1417320"/>
            <a:ext cx="50040" cy="1142640"/>
          </a:xfrm>
          <a:prstGeom prst="rect">
            <a:avLst/>
          </a:prstGeom>
          <a:solidFill>
            <a:srgbClr val="70E0A4"/>
          </a:solidFill>
          <a:ln w="12600">
            <a:solidFill>
              <a:srgbClr val="70E0A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8531280" y="153612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evidence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8531280" y="18928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Support/opposition, source attributes, scores and provenance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594360" y="282564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594360" y="2825640"/>
            <a:ext cx="50040" cy="1142640"/>
          </a:xfrm>
          <a:prstGeom prst="rect">
            <a:avLst/>
          </a:prstGeom>
          <a:solidFill>
            <a:srgbClr val="FFD166"/>
          </a:solidFill>
          <a:ln w="12600">
            <a:solidFill>
              <a:srgbClr val="FFD16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758880" y="294444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counterarguments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758880" y="330084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Challenges and qualifications linked to a claim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4480560" y="282564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4480560" y="2825640"/>
            <a:ext cx="50040" cy="1142640"/>
          </a:xfrm>
          <a:prstGeom prst="rect">
            <a:avLst/>
          </a:prstGeom>
          <a:solidFill>
            <a:srgbClr val="FF7189"/>
          </a:solidFill>
          <a:ln w="12600">
            <a:solidFill>
              <a:srgbClr val="FF718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4645080" y="294444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contradictions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4645080" y="330084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Potential conflicts between claim A and claim 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4"/>
          <p:cNvSpPr/>
          <p:nvPr/>
        </p:nvSpPr>
        <p:spPr>
          <a:xfrm>
            <a:off x="8366760" y="282564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8366760" y="2825640"/>
            <a:ext cx="50040" cy="114264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8531280" y="294444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sources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8531280" y="330084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Publisher, type, URL, publication date and reliability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8"/>
          <p:cNvSpPr/>
          <p:nvPr/>
        </p:nvSpPr>
        <p:spPr>
          <a:xfrm>
            <a:off x="594360" y="423360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9"/>
          <p:cNvSpPr/>
          <p:nvPr/>
        </p:nvSpPr>
        <p:spPr>
          <a:xfrm>
            <a:off x="594360" y="4233600"/>
            <a:ext cx="50040" cy="1142640"/>
          </a:xfrm>
          <a:prstGeom prst="rect">
            <a:avLst/>
          </a:prstGeom>
          <a:solidFill>
            <a:srgbClr val="FFD166"/>
          </a:solidFill>
          <a:ln w="12600">
            <a:solidFill>
              <a:srgbClr val="FFD16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758880" y="435240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debate_history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758880" y="470916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Timestamped state snapshots and event summaries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4480560" y="423360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3"/>
          <p:cNvSpPr/>
          <p:nvPr/>
        </p:nvSpPr>
        <p:spPr>
          <a:xfrm>
            <a:off x="4480560" y="4233600"/>
            <a:ext cx="50040" cy="114264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4645080" y="435240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embeddings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5"/>
          <p:cNvSpPr/>
          <p:nvPr/>
        </p:nvSpPr>
        <p:spPr>
          <a:xfrm>
            <a:off x="4645080" y="470916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Vectors associated with claims/evidence for search experiments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6"/>
          <p:cNvSpPr/>
          <p:nvPr/>
        </p:nvSpPr>
        <p:spPr>
          <a:xfrm>
            <a:off x="8366760" y="4233600"/>
            <a:ext cx="356580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7"/>
          <p:cNvSpPr/>
          <p:nvPr/>
        </p:nvSpPr>
        <p:spPr>
          <a:xfrm>
            <a:off x="8366760" y="4233600"/>
            <a:ext cx="50040" cy="1142640"/>
          </a:xfrm>
          <a:prstGeom prst="rect">
            <a:avLst/>
          </a:prstGeom>
          <a:solidFill>
            <a:srgbClr val="9CB1C0"/>
          </a:solidFill>
          <a:ln w="12600">
            <a:solidFill>
              <a:srgbClr val="9CB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8"/>
          <p:cNvSpPr/>
          <p:nvPr/>
        </p:nvSpPr>
        <p:spPr>
          <a:xfrm>
            <a:off x="8531280" y="4352400"/>
            <a:ext cx="327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audit_logs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9"/>
          <p:cNvSpPr/>
          <p:nvPr/>
        </p:nvSpPr>
        <p:spPr>
          <a:xfrm>
            <a:off x="8531280" y="470916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Intended audit trail; active write coverage not assumed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sldNum" idx="10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0D788DC-DBEB-41D7-8AB9-088524985A88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03 • DATABASE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What a document looks like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ObjectIds keep records connected while each collection has its own lifecycle.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658440" y="1481400"/>
            <a:ext cx="3593160" cy="3611520"/>
          </a:xfrm>
          <a:prstGeom prst="roundRect">
            <a:avLst>
              <a:gd name="adj" fmla="val 3053"/>
            </a:avLst>
          </a:prstGeom>
          <a:solidFill>
            <a:srgbClr val="080F17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804600" y="1591200"/>
            <a:ext cx="331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DEBATE DOCUMENT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804600" y="1920240"/>
            <a:ext cx="3318840" cy="30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_id: ObjectId(...),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question: "Should AI be used...",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domain: "Healthcare",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status: "active",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current_synthesis: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  summary: "...",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  pro_score: 0.625,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  con_score: 0.61,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  confidence: 0.6175,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  uncertainty: 0.985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},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metadata: { language: "en"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4316040" y="1481400"/>
            <a:ext cx="3593160" cy="3611520"/>
          </a:xfrm>
          <a:prstGeom prst="roundRect">
            <a:avLst>
              <a:gd name="adj" fmla="val 3053"/>
            </a:avLst>
          </a:prstGeom>
          <a:solidFill>
            <a:srgbClr val="080F17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4462200" y="1591200"/>
            <a:ext cx="331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CLAIM DOCUMENT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4462200" y="1920240"/>
            <a:ext cx="3318840" cy="30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_id: ObjectId(...),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debate_id: ObjectId(...),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position: "PRO",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text: "AI can assist diagnosis...",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confidence: 0.60,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status: "active",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evidence_ids: [...],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counterargument_ids: [...],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provenance: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  generated_by: "retrieval"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7973640" y="1481400"/>
            <a:ext cx="3593160" cy="3611520"/>
          </a:xfrm>
          <a:prstGeom prst="roundRect">
            <a:avLst>
              <a:gd name="adj" fmla="val 3053"/>
            </a:avLst>
          </a:prstGeom>
          <a:solidFill>
            <a:srgbClr val="080F17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8119800" y="1591200"/>
            <a:ext cx="331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EVIDENCE DOCUMENT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8119800" y="1920240"/>
            <a:ext cx="3318840" cy="30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_id: ObjectId(...),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claim_id: ObjectId(...),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source_id: ObjectId(...),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supports: true,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reliability_score: 0.50,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relevance: 0.55,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independence_score: 0.55,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recency_score: 0.60,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evidence_score: 0.0908,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  url: null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E6F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sldNum" idx="11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84AF035-D5AC-4438-9216-1B8CC0A0DC3D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03 • DATABASE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The debate graph and collection relationships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VERITAS uses a graph of linked documents rather than one giant nested record.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4617720" y="1426320"/>
            <a:ext cx="2944080" cy="712800"/>
          </a:xfrm>
          <a:prstGeom prst="roundRect">
            <a:avLst>
              <a:gd name="adj" fmla="val 15385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4690800" y="1499760"/>
            <a:ext cx="279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DEBATE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4709160" y="1810440"/>
            <a:ext cx="276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question + synthesis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7"/>
          <p:cNvSpPr/>
          <p:nvPr/>
        </p:nvSpPr>
        <p:spPr>
          <a:xfrm>
            <a:off x="1828800" y="2761560"/>
            <a:ext cx="219420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1901880" y="2834640"/>
            <a:ext cx="204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PRO / CON CLAIMS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1920240" y="3145680"/>
            <a:ext cx="20113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debate_id → debates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0"/>
          <p:cNvSpPr/>
          <p:nvPr/>
        </p:nvSpPr>
        <p:spPr>
          <a:xfrm>
            <a:off x="4937760" y="2761560"/>
            <a:ext cx="219420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5010840" y="2834640"/>
            <a:ext cx="204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EVIDENCE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5029200" y="3145680"/>
            <a:ext cx="20113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claim_id → claims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8046720" y="2761560"/>
            <a:ext cx="219420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8119800" y="2834640"/>
            <a:ext cx="204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SOURCES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8138160" y="3145680"/>
            <a:ext cx="20113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source_id → sources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6"/>
          <p:cNvSpPr/>
          <p:nvPr/>
        </p:nvSpPr>
        <p:spPr>
          <a:xfrm>
            <a:off x="1078920" y="4416480"/>
            <a:ext cx="221256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1152000" y="4489560"/>
            <a:ext cx="206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COUNTERARGUMENTS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1170360" y="4800600"/>
            <a:ext cx="202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claim_id → claims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9"/>
          <p:cNvSpPr/>
          <p:nvPr/>
        </p:nvSpPr>
        <p:spPr>
          <a:xfrm>
            <a:off x="4114800" y="4416480"/>
            <a:ext cx="221256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FF71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4187880" y="4489560"/>
            <a:ext cx="206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CONTRADICTIONS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4206240" y="4800600"/>
            <a:ext cx="202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claim_a ↔ claim_b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2"/>
          <p:cNvSpPr/>
          <p:nvPr/>
        </p:nvSpPr>
        <p:spPr>
          <a:xfrm>
            <a:off x="7150680" y="4416480"/>
            <a:ext cx="221256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7223760" y="4489560"/>
            <a:ext cx="206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DEBATE_HISTORY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7242120" y="4800600"/>
            <a:ext cx="202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debate_id + timestamp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5"/>
          <p:cNvSpPr/>
          <p:nvPr/>
        </p:nvSpPr>
        <p:spPr>
          <a:xfrm>
            <a:off x="9902880" y="4416480"/>
            <a:ext cx="1508400" cy="776880"/>
          </a:xfrm>
          <a:prstGeom prst="roundRect">
            <a:avLst>
              <a:gd name="adj" fmla="val 14118"/>
            </a:avLst>
          </a:prstGeom>
          <a:solidFill>
            <a:srgbClr val="111E2B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9975960" y="4489560"/>
            <a:ext cx="1362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EMBEDDINGS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7"/>
          <p:cNvSpPr/>
          <p:nvPr/>
        </p:nvSpPr>
        <p:spPr>
          <a:xfrm>
            <a:off x="9994320" y="4800600"/>
            <a:ext cx="1325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entity_id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8"/>
          <p:cNvSpPr/>
          <p:nvPr/>
        </p:nvSpPr>
        <p:spPr>
          <a:xfrm flipH="1">
            <a:off x="2907720" y="2139480"/>
            <a:ext cx="2395800" cy="621720"/>
          </a:xfrm>
          <a:prstGeom prst="line">
            <a:avLst/>
          </a:prstGeom>
          <a:ln w="14040">
            <a:solidFill>
              <a:srgbClr val="67D9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9"/>
          <p:cNvSpPr/>
          <p:nvPr/>
        </p:nvSpPr>
        <p:spPr>
          <a:xfrm flipH="1">
            <a:off x="6035040" y="2139480"/>
            <a:ext cx="45720" cy="621720"/>
          </a:xfrm>
          <a:prstGeom prst="line">
            <a:avLst/>
          </a:prstGeom>
          <a:ln w="14040">
            <a:solidFill>
              <a:srgbClr val="67D9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0"/>
          <p:cNvSpPr/>
          <p:nvPr/>
        </p:nvSpPr>
        <p:spPr>
          <a:xfrm>
            <a:off x="6858000" y="2139480"/>
            <a:ext cx="2286000" cy="621720"/>
          </a:xfrm>
          <a:prstGeom prst="line">
            <a:avLst/>
          </a:prstGeom>
          <a:ln w="14040">
            <a:solidFill>
              <a:srgbClr val="67D9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1"/>
          <p:cNvSpPr/>
          <p:nvPr/>
        </p:nvSpPr>
        <p:spPr>
          <a:xfrm flipH="1">
            <a:off x="2230920" y="3538440"/>
            <a:ext cx="695160" cy="878040"/>
          </a:xfrm>
          <a:prstGeom prst="line">
            <a:avLst/>
          </a:prstGeom>
          <a:ln w="12600">
            <a:solidFill>
              <a:srgbClr val="FFD16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2"/>
          <p:cNvSpPr/>
          <p:nvPr/>
        </p:nvSpPr>
        <p:spPr>
          <a:xfrm>
            <a:off x="4023360" y="3182040"/>
            <a:ext cx="320040" cy="1234440"/>
          </a:xfrm>
          <a:prstGeom prst="line">
            <a:avLst/>
          </a:prstGeom>
          <a:ln w="12600">
            <a:solidFill>
              <a:srgbClr val="FF7189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3"/>
          <p:cNvSpPr/>
          <p:nvPr/>
        </p:nvSpPr>
        <p:spPr>
          <a:xfrm>
            <a:off x="6903720" y="3182040"/>
            <a:ext cx="1188720" cy="1234440"/>
          </a:xfrm>
          <a:prstGeom prst="line">
            <a:avLst/>
          </a:prstGeom>
          <a:ln w="12600">
            <a:solidFill>
              <a:srgbClr val="FFD16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4"/>
          <p:cNvSpPr/>
          <p:nvPr/>
        </p:nvSpPr>
        <p:spPr>
          <a:xfrm>
            <a:off x="9966960" y="3182040"/>
            <a:ext cx="685800" cy="1234440"/>
          </a:xfrm>
          <a:prstGeom prst="line">
            <a:avLst/>
          </a:prstGeom>
          <a:ln w="12600">
            <a:solidFill>
              <a:srgbClr val="B99CFF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sldNum" idx="12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3A57140-8FC4-49C9-B775-C8EFAC587190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03 • DATABASE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Why embed some fields and reference other records?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strategy balances read efficiency, duplication and independent growth.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713160" y="1508760"/>
            <a:ext cx="5193360" cy="3474360"/>
          </a:xfrm>
          <a:prstGeom prst="roundRect">
            <a:avLst>
              <a:gd name="adj" fmla="val 315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713160" y="1508760"/>
            <a:ext cx="50040" cy="3474360"/>
          </a:xfrm>
          <a:prstGeom prst="rect">
            <a:avLst/>
          </a:prstGeom>
          <a:solidFill>
            <a:srgbClr val="70E0A4"/>
          </a:solidFill>
          <a:ln w="12600">
            <a:solidFill>
              <a:srgbClr val="70E0A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877680" y="1627560"/>
            <a:ext cx="490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EMBED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877680" y="1984320"/>
            <a:ext cx="4882680" cy="28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Embed compact, tightly coupled fields: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`current_synthesis` inside `debates`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compact metadata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Why?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read with the debate header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avoids a separate fetch for current scores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size and lifecycle are bounded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6291000" y="1508760"/>
            <a:ext cx="5193360" cy="3474360"/>
          </a:xfrm>
          <a:prstGeom prst="roundRect">
            <a:avLst>
              <a:gd name="adj" fmla="val 315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6291000" y="1508760"/>
            <a:ext cx="50040" cy="347436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6455520" y="1627560"/>
            <a:ext cx="490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REFERENCE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6455520" y="1984320"/>
            <a:ext cx="4882680" cy="28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Reference independent, reusable or growing records: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claims → debates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evidence → claims / sources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contradictions → two claims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history → debate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embeddings → entity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Why?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independent updates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many-to-one / cross-claim links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avoid giant nested arrays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914400" y="539496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Design trade-off: faster common reads vs. lower duplication and clearer independent lifecycles.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Num" idx="13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7F6BCA4-3056-4248-92CF-B248DDD97041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04 • APPLICATION FLOW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End-to-end workflow: create, analyze, inspect, update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This is the principal journey to show during the live demo.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530280" y="1828800"/>
            <a:ext cx="1700280" cy="2331360"/>
          </a:xfrm>
          <a:prstGeom prst="roundRect">
            <a:avLst>
              <a:gd name="adj" fmla="val 6452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640080" y="1974960"/>
            <a:ext cx="347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640080" y="2505600"/>
            <a:ext cx="1471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Create debate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640080" y="2990160"/>
            <a:ext cx="1471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Question + domain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8"/>
          <p:cNvSpPr/>
          <p:nvPr/>
        </p:nvSpPr>
        <p:spPr>
          <a:xfrm>
            <a:off x="640080" y="361188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POST /api/debates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9"/>
          <p:cNvSpPr/>
          <p:nvPr/>
        </p:nvSpPr>
        <p:spPr>
          <a:xfrm>
            <a:off x="2230920" y="2916720"/>
            <a:ext cx="23796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0"/>
          <p:cNvSpPr/>
          <p:nvPr/>
        </p:nvSpPr>
        <p:spPr>
          <a:xfrm>
            <a:off x="2468880" y="1828800"/>
            <a:ext cx="1700280" cy="2331360"/>
          </a:xfrm>
          <a:prstGeom prst="roundRect">
            <a:avLst>
              <a:gd name="adj" fmla="val 6452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1"/>
          <p:cNvSpPr/>
          <p:nvPr/>
        </p:nvSpPr>
        <p:spPr>
          <a:xfrm>
            <a:off x="2578680" y="1974960"/>
            <a:ext cx="347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2"/>
          <p:cNvSpPr/>
          <p:nvPr/>
        </p:nvSpPr>
        <p:spPr>
          <a:xfrm>
            <a:off x="2578680" y="2505600"/>
            <a:ext cx="1471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Store root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3"/>
          <p:cNvSpPr/>
          <p:nvPr/>
        </p:nvSpPr>
        <p:spPr>
          <a:xfrm>
            <a:off x="2578680" y="2990160"/>
            <a:ext cx="1471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Initial synthesis + event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4"/>
          <p:cNvSpPr/>
          <p:nvPr/>
        </p:nvSpPr>
        <p:spPr>
          <a:xfrm>
            <a:off x="2578680" y="361188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MongoDB: debates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4169520" y="2916720"/>
            <a:ext cx="23760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6"/>
          <p:cNvSpPr/>
          <p:nvPr/>
        </p:nvSpPr>
        <p:spPr>
          <a:xfrm>
            <a:off x="4407480" y="1828800"/>
            <a:ext cx="1700280" cy="2331360"/>
          </a:xfrm>
          <a:prstGeom prst="roundRect">
            <a:avLst>
              <a:gd name="adj" fmla="val 6452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7"/>
          <p:cNvSpPr/>
          <p:nvPr/>
        </p:nvSpPr>
        <p:spPr>
          <a:xfrm>
            <a:off x="4517280" y="1974960"/>
            <a:ext cx="347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8"/>
          <p:cNvSpPr/>
          <p:nvPr/>
        </p:nvSpPr>
        <p:spPr>
          <a:xfrm>
            <a:off x="4517280" y="2505600"/>
            <a:ext cx="1471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Analyze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9"/>
          <p:cNvSpPr/>
          <p:nvPr/>
        </p:nvSpPr>
        <p:spPr>
          <a:xfrm>
            <a:off x="4517280" y="2990160"/>
            <a:ext cx="1471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Claims/evidence/rebuttals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0"/>
          <p:cNvSpPr/>
          <p:nvPr/>
        </p:nvSpPr>
        <p:spPr>
          <a:xfrm>
            <a:off x="4517280" y="361188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POST /api/ai/analyze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1"/>
          <p:cNvSpPr/>
          <p:nvPr/>
        </p:nvSpPr>
        <p:spPr>
          <a:xfrm>
            <a:off x="6108120" y="2916720"/>
            <a:ext cx="23760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2"/>
          <p:cNvSpPr/>
          <p:nvPr/>
        </p:nvSpPr>
        <p:spPr>
          <a:xfrm>
            <a:off x="6346080" y="1828800"/>
            <a:ext cx="1700280" cy="2331360"/>
          </a:xfrm>
          <a:prstGeom prst="roundRect">
            <a:avLst>
              <a:gd name="adj" fmla="val 6452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6455520" y="1974960"/>
            <a:ext cx="347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4"/>
          <p:cNvSpPr/>
          <p:nvPr/>
        </p:nvSpPr>
        <p:spPr>
          <a:xfrm>
            <a:off x="6455520" y="2505600"/>
            <a:ext cx="1471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Recalculate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5"/>
          <p:cNvSpPr/>
          <p:nvPr/>
        </p:nvSpPr>
        <p:spPr>
          <a:xfrm>
            <a:off x="6455520" y="2990160"/>
            <a:ext cx="1471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Scores + conflicts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6"/>
          <p:cNvSpPr/>
          <p:nvPr/>
        </p:nvSpPr>
        <p:spPr>
          <a:xfrm>
            <a:off x="6455520" y="361188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Python services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7"/>
          <p:cNvSpPr/>
          <p:nvPr/>
        </p:nvSpPr>
        <p:spPr>
          <a:xfrm>
            <a:off x="8046720" y="2916720"/>
            <a:ext cx="23760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8"/>
          <p:cNvSpPr/>
          <p:nvPr/>
        </p:nvSpPr>
        <p:spPr>
          <a:xfrm>
            <a:off x="8284320" y="1828800"/>
            <a:ext cx="1700280" cy="2331360"/>
          </a:xfrm>
          <a:prstGeom prst="roundRect">
            <a:avLst>
              <a:gd name="adj" fmla="val 6452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9"/>
          <p:cNvSpPr/>
          <p:nvPr/>
        </p:nvSpPr>
        <p:spPr>
          <a:xfrm>
            <a:off x="8394120" y="1974960"/>
            <a:ext cx="347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0"/>
          <p:cNvSpPr/>
          <p:nvPr/>
        </p:nvSpPr>
        <p:spPr>
          <a:xfrm>
            <a:off x="8394120" y="2505600"/>
            <a:ext cx="1471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Persist history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1"/>
          <p:cNvSpPr/>
          <p:nvPr/>
        </p:nvSpPr>
        <p:spPr>
          <a:xfrm>
            <a:off x="8394120" y="2990160"/>
            <a:ext cx="1471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Current state + snapshot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2"/>
          <p:cNvSpPr/>
          <p:nvPr/>
        </p:nvSpPr>
        <p:spPr>
          <a:xfrm>
            <a:off x="8394120" y="361188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debate_history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3"/>
          <p:cNvSpPr/>
          <p:nvPr/>
        </p:nvSpPr>
        <p:spPr>
          <a:xfrm>
            <a:off x="9984960" y="2916720"/>
            <a:ext cx="237960" cy="360"/>
          </a:xfrm>
          <a:prstGeom prst="line">
            <a:avLst/>
          </a:prstGeom>
          <a:ln w="1404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4"/>
          <p:cNvSpPr/>
          <p:nvPr/>
        </p:nvSpPr>
        <p:spPr>
          <a:xfrm>
            <a:off x="10222920" y="1828800"/>
            <a:ext cx="1700280" cy="2331360"/>
          </a:xfrm>
          <a:prstGeom prst="roundRect">
            <a:avLst>
              <a:gd name="adj" fmla="val 6452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5"/>
          <p:cNvSpPr/>
          <p:nvPr/>
        </p:nvSpPr>
        <p:spPr>
          <a:xfrm>
            <a:off x="10332720" y="1974960"/>
            <a:ext cx="347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6"/>
          <p:cNvSpPr/>
          <p:nvPr/>
        </p:nvSpPr>
        <p:spPr>
          <a:xfrm>
            <a:off x="10332720" y="2505600"/>
            <a:ext cx="1471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Explore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37"/>
          <p:cNvSpPr/>
          <p:nvPr/>
        </p:nvSpPr>
        <p:spPr>
          <a:xfrm>
            <a:off x="10332720" y="2990160"/>
            <a:ext cx="1471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Graph, query, timeline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38"/>
          <p:cNvSpPr/>
          <p:nvPr/>
        </p:nvSpPr>
        <p:spPr>
          <a:xfrm>
            <a:off x="10332720" y="361188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React workspace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9"/>
          <p:cNvSpPr/>
          <p:nvPr/>
        </p:nvSpPr>
        <p:spPr>
          <a:xfrm>
            <a:off x="1170360" y="4754880"/>
            <a:ext cx="9802080" cy="712800"/>
          </a:xfrm>
          <a:prstGeom prst="roundRect">
            <a:avLst>
              <a:gd name="adj" fmla="val 15385"/>
            </a:avLst>
          </a:prstGeom>
          <a:solidFill>
            <a:srgbClr val="111D29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40"/>
          <p:cNvSpPr/>
          <p:nvPr/>
        </p:nvSpPr>
        <p:spPr>
          <a:xfrm>
            <a:off x="1389960" y="4901040"/>
            <a:ext cx="1554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Important side effect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41"/>
          <p:cNvSpPr/>
          <p:nvPr/>
        </p:nvSpPr>
        <p:spPr>
          <a:xfrm>
            <a:off x="2944440" y="485532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Generate Analysis writes claims, fixture evidence/counterarguments, updated scores and history. Use a disposable debate.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sldNum" idx="15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2685AB-887C-425D-8115-3823BF3E0F5E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 • REASONING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Evidence scoring: transparent, deterministic arithmetic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formula is implemented, but it has not been empirically validated.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822960" y="1554480"/>
            <a:ext cx="10515240" cy="932400"/>
          </a:xfrm>
          <a:prstGeom prst="roundRect">
            <a:avLst>
              <a:gd name="adj" fmla="val 11765"/>
            </a:avLst>
          </a:prstGeom>
          <a:solidFill>
            <a:srgbClr val="111E2B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1078920" y="181044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Evidence Score = Reliability × Relevance × Independence × Recency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6"/>
          <p:cNvSpPr/>
          <p:nvPr/>
        </p:nvSpPr>
        <p:spPr>
          <a:xfrm>
            <a:off x="658440" y="2862000"/>
            <a:ext cx="257832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7"/>
          <p:cNvSpPr/>
          <p:nvPr/>
        </p:nvSpPr>
        <p:spPr>
          <a:xfrm>
            <a:off x="658440" y="2862000"/>
            <a:ext cx="50040" cy="1142640"/>
          </a:xfrm>
          <a:prstGeom prst="rect">
            <a:avLst/>
          </a:prstGeom>
          <a:solidFill>
            <a:srgbClr val="70E0A4"/>
          </a:solidFill>
          <a:ln w="12600">
            <a:solidFill>
              <a:srgbClr val="70E0A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8"/>
          <p:cNvSpPr/>
          <p:nvPr/>
        </p:nvSpPr>
        <p:spPr>
          <a:xfrm>
            <a:off x="822960" y="29808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Reliability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9"/>
          <p:cNvSpPr/>
          <p:nvPr/>
        </p:nvSpPr>
        <p:spPr>
          <a:xfrm>
            <a:off x="822960" y="333756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How trustworthy is the source metadata?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0"/>
          <p:cNvSpPr/>
          <p:nvPr/>
        </p:nvSpPr>
        <p:spPr>
          <a:xfrm>
            <a:off x="3538800" y="2862000"/>
            <a:ext cx="257832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1"/>
          <p:cNvSpPr/>
          <p:nvPr/>
        </p:nvSpPr>
        <p:spPr>
          <a:xfrm>
            <a:off x="3538800" y="2862000"/>
            <a:ext cx="50040" cy="114264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2"/>
          <p:cNvSpPr/>
          <p:nvPr/>
        </p:nvSpPr>
        <p:spPr>
          <a:xfrm>
            <a:off x="3703320" y="29808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Relevance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3"/>
          <p:cNvSpPr/>
          <p:nvPr/>
        </p:nvSpPr>
        <p:spPr>
          <a:xfrm>
            <a:off x="3703320" y="333756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How directly is it tied to this claim?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4"/>
          <p:cNvSpPr/>
          <p:nvPr/>
        </p:nvSpPr>
        <p:spPr>
          <a:xfrm>
            <a:off x="6419160" y="2862000"/>
            <a:ext cx="257832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5"/>
          <p:cNvSpPr/>
          <p:nvPr/>
        </p:nvSpPr>
        <p:spPr>
          <a:xfrm>
            <a:off x="6419160" y="2862000"/>
            <a:ext cx="50040" cy="114264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6"/>
          <p:cNvSpPr/>
          <p:nvPr/>
        </p:nvSpPr>
        <p:spPr>
          <a:xfrm>
            <a:off x="6583680" y="29808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Independence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7"/>
          <p:cNvSpPr/>
          <p:nvPr/>
        </p:nvSpPr>
        <p:spPr>
          <a:xfrm>
            <a:off x="6583680" y="333756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Does it add independent evidence?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8"/>
          <p:cNvSpPr/>
          <p:nvPr/>
        </p:nvSpPr>
        <p:spPr>
          <a:xfrm>
            <a:off x="9299520" y="2862000"/>
            <a:ext cx="257832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9"/>
          <p:cNvSpPr/>
          <p:nvPr/>
        </p:nvSpPr>
        <p:spPr>
          <a:xfrm>
            <a:off x="9299520" y="2862000"/>
            <a:ext cx="50040" cy="1142640"/>
          </a:xfrm>
          <a:prstGeom prst="rect">
            <a:avLst/>
          </a:prstGeom>
          <a:solidFill>
            <a:srgbClr val="FFD166"/>
          </a:solidFill>
          <a:ln w="12600">
            <a:solidFill>
              <a:srgbClr val="FFD16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0"/>
          <p:cNvSpPr/>
          <p:nvPr/>
        </p:nvSpPr>
        <p:spPr>
          <a:xfrm>
            <a:off x="9464040" y="29808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Recency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1"/>
          <p:cNvSpPr/>
          <p:nvPr/>
        </p:nvSpPr>
        <p:spPr>
          <a:xfrm>
            <a:off x="9464040" y="333756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How recent is the information?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22"/>
          <p:cNvSpPr/>
          <p:nvPr/>
        </p:nvSpPr>
        <p:spPr>
          <a:xfrm>
            <a:off x="1024200" y="4462200"/>
            <a:ext cx="4681440" cy="959760"/>
          </a:xfrm>
          <a:prstGeom prst="roundRect">
            <a:avLst>
              <a:gd name="adj" fmla="val 11429"/>
            </a:avLst>
          </a:prstGeom>
          <a:solidFill>
            <a:srgbClr val="0C1A20"/>
          </a:solidFill>
          <a:ln w="10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3"/>
          <p:cNvSpPr/>
          <p:nvPr/>
        </p:nvSpPr>
        <p:spPr>
          <a:xfrm>
            <a:off x="1243440" y="45903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Example inputs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4"/>
          <p:cNvSpPr/>
          <p:nvPr/>
        </p:nvSpPr>
        <p:spPr>
          <a:xfrm>
            <a:off x="1280160" y="4910400"/>
            <a:ext cx="4187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0.50 × 0.55 × 0.55 × 0.60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5"/>
          <p:cNvSpPr/>
          <p:nvPr/>
        </p:nvSpPr>
        <p:spPr>
          <a:xfrm>
            <a:off x="6126480" y="4462200"/>
            <a:ext cx="4681440" cy="959760"/>
          </a:xfrm>
          <a:prstGeom prst="roundRect">
            <a:avLst>
              <a:gd name="adj" fmla="val 11429"/>
            </a:avLst>
          </a:prstGeom>
          <a:solidFill>
            <a:srgbClr val="171625"/>
          </a:solidFill>
          <a:ln w="10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6"/>
          <p:cNvSpPr/>
          <p:nvPr/>
        </p:nvSpPr>
        <p:spPr>
          <a:xfrm>
            <a:off x="6346080" y="45903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Computed example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7"/>
          <p:cNvSpPr/>
          <p:nvPr/>
        </p:nvSpPr>
        <p:spPr>
          <a:xfrm>
            <a:off x="6400800" y="48646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0.0908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sldNum" idx="16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C1332EB-D893-4B96-9A1D-C2341736F091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 • REASONING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From evidence scores to claim and debate-level scores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outputs summarize the current stored inputs; they are not probabilities of truth.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"/>
          <p:cNvSpPr/>
          <p:nvPr/>
        </p:nvSpPr>
        <p:spPr>
          <a:xfrm>
            <a:off x="658440" y="1581840"/>
            <a:ext cx="3337200" cy="2194200"/>
          </a:xfrm>
          <a:prstGeom prst="roundRect">
            <a:avLst>
              <a:gd name="adj" fmla="val 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5"/>
          <p:cNvSpPr/>
          <p:nvPr/>
        </p:nvSpPr>
        <p:spPr>
          <a:xfrm>
            <a:off x="658440" y="1581840"/>
            <a:ext cx="50040" cy="219420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822960" y="170064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CLAIM STRENGTH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822960" y="2057400"/>
            <a:ext cx="3026160" cy="16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Starting from supporting evidence: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+ supporting contribution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− half-weighted opposing evidence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− counterargument penalty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− contradiction penalty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Normalize to 0–1.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4434840" y="1581840"/>
            <a:ext cx="3337200" cy="2194200"/>
          </a:xfrm>
          <a:prstGeom prst="roundRect">
            <a:avLst>
              <a:gd name="adj" fmla="val 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9"/>
          <p:cNvSpPr/>
          <p:nvPr/>
        </p:nvSpPr>
        <p:spPr>
          <a:xfrm>
            <a:off x="4434840" y="1581840"/>
            <a:ext cx="50040" cy="219420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0"/>
          <p:cNvSpPr/>
          <p:nvPr/>
        </p:nvSpPr>
        <p:spPr>
          <a:xfrm>
            <a:off x="4599360" y="170064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DEBATE SCORES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1"/>
          <p:cNvSpPr/>
          <p:nvPr/>
        </p:nvSpPr>
        <p:spPr>
          <a:xfrm>
            <a:off x="4599360" y="2057400"/>
            <a:ext cx="3026160" cy="16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PRO score = average confidence of active PRO claims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CON score = average confidence of active CON claims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Superseded claims are excluded.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2"/>
          <p:cNvSpPr/>
          <p:nvPr/>
        </p:nvSpPr>
        <p:spPr>
          <a:xfrm>
            <a:off x="8211240" y="1581840"/>
            <a:ext cx="3337200" cy="2194200"/>
          </a:xfrm>
          <a:prstGeom prst="roundRect">
            <a:avLst>
              <a:gd name="adj" fmla="val 50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3"/>
          <p:cNvSpPr/>
          <p:nvPr/>
        </p:nvSpPr>
        <p:spPr>
          <a:xfrm>
            <a:off x="8211240" y="1581840"/>
            <a:ext cx="50040" cy="2194200"/>
          </a:xfrm>
          <a:prstGeom prst="rect">
            <a:avLst/>
          </a:prstGeom>
          <a:solidFill>
            <a:srgbClr val="FFD166"/>
          </a:solidFill>
          <a:ln w="12600">
            <a:solidFill>
              <a:srgbClr val="FFD16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4"/>
          <p:cNvSpPr/>
          <p:nvPr/>
        </p:nvSpPr>
        <p:spPr>
          <a:xfrm>
            <a:off x="8375760" y="170064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UNCERTAINTY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5"/>
          <p:cNvSpPr/>
          <p:nvPr/>
        </p:nvSpPr>
        <p:spPr>
          <a:xfrm>
            <a:off x="8375760" y="2057400"/>
            <a:ext cx="3026160" cy="16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Derived from how close the PRO and CON scores are.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Close scores imply unresolved competition in this framework.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Not a calibrated probability.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6"/>
          <p:cNvSpPr/>
          <p:nvPr/>
        </p:nvSpPr>
        <p:spPr>
          <a:xfrm>
            <a:off x="896040" y="482364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dirty="0">
                <a:solidFill>
                  <a:srgbClr val="F3F8FC"/>
                </a:solidFill>
                <a:latin typeface="Aptos"/>
                <a:ea typeface="Aptos"/>
              </a:rPr>
              <a:t>D</a:t>
            </a:r>
            <a:r>
              <a:rPr lang="en-US" sz="1500" b="1" u="none" strike="noStrike" dirty="0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ocumented Healthcare values: PRO average 0.625 • CON average 0.610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sldNum" idx="17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750D8C-6FC9-493F-ACC5-638F3BA36EE2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 • AI PIPELINE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Generate Analysis: implemented pipeline and fallback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Optional LLM synthesis; a deterministic fallback keeps local demos working.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658440" y="1682640"/>
            <a:ext cx="248688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768240" y="1774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1188720" y="1774080"/>
            <a:ext cx="18468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Load debate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786240" y="2139840"/>
            <a:ext cx="223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Read debate + existing claims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8"/>
          <p:cNvSpPr/>
          <p:nvPr/>
        </p:nvSpPr>
        <p:spPr>
          <a:xfrm>
            <a:off x="3145320" y="2249280"/>
            <a:ext cx="347400" cy="360"/>
          </a:xfrm>
          <a:prstGeom prst="line">
            <a:avLst/>
          </a:prstGeom>
          <a:ln w="1260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9"/>
          <p:cNvSpPr/>
          <p:nvPr/>
        </p:nvSpPr>
        <p:spPr>
          <a:xfrm>
            <a:off x="3538800" y="1682640"/>
            <a:ext cx="248688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0"/>
          <p:cNvSpPr/>
          <p:nvPr/>
        </p:nvSpPr>
        <p:spPr>
          <a:xfrm>
            <a:off x="3648600" y="1774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1"/>
          <p:cNvSpPr/>
          <p:nvPr/>
        </p:nvSpPr>
        <p:spPr>
          <a:xfrm>
            <a:off x="4069080" y="1774080"/>
            <a:ext cx="18468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Generate if empty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2"/>
          <p:cNvSpPr/>
          <p:nvPr/>
        </p:nvSpPr>
        <p:spPr>
          <a:xfrm>
            <a:off x="3666600" y="2139840"/>
            <a:ext cx="223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Create candidate PRO/CON claims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3"/>
          <p:cNvSpPr/>
          <p:nvPr/>
        </p:nvSpPr>
        <p:spPr>
          <a:xfrm>
            <a:off x="6025680" y="2249280"/>
            <a:ext cx="347400" cy="360"/>
          </a:xfrm>
          <a:prstGeom prst="line">
            <a:avLst/>
          </a:prstGeom>
          <a:ln w="1260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4"/>
          <p:cNvSpPr/>
          <p:nvPr/>
        </p:nvSpPr>
        <p:spPr>
          <a:xfrm>
            <a:off x="6419160" y="1682640"/>
            <a:ext cx="248688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5"/>
          <p:cNvSpPr/>
          <p:nvPr/>
        </p:nvSpPr>
        <p:spPr>
          <a:xfrm>
            <a:off x="6528960" y="1774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6"/>
          <p:cNvSpPr/>
          <p:nvPr/>
        </p:nvSpPr>
        <p:spPr>
          <a:xfrm>
            <a:off x="6949440" y="1774080"/>
            <a:ext cx="18468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Attach fixtures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7"/>
          <p:cNvSpPr/>
          <p:nvPr/>
        </p:nvSpPr>
        <p:spPr>
          <a:xfrm>
            <a:off x="6546960" y="2139840"/>
            <a:ext cx="223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Evidence + counterarguments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8"/>
          <p:cNvSpPr/>
          <p:nvPr/>
        </p:nvSpPr>
        <p:spPr>
          <a:xfrm>
            <a:off x="8906040" y="2249280"/>
            <a:ext cx="347400" cy="360"/>
          </a:xfrm>
          <a:prstGeom prst="line">
            <a:avLst/>
          </a:prstGeom>
          <a:ln w="1260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9"/>
          <p:cNvSpPr/>
          <p:nvPr/>
        </p:nvSpPr>
        <p:spPr>
          <a:xfrm>
            <a:off x="9299520" y="1682640"/>
            <a:ext cx="248688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0"/>
          <p:cNvSpPr/>
          <p:nvPr/>
        </p:nvSpPr>
        <p:spPr>
          <a:xfrm>
            <a:off x="9409320" y="1774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1"/>
          <p:cNvSpPr/>
          <p:nvPr/>
        </p:nvSpPr>
        <p:spPr>
          <a:xfrm>
            <a:off x="9829800" y="1774080"/>
            <a:ext cx="18468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Analyze conflicts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2"/>
          <p:cNvSpPr/>
          <p:nvPr/>
        </p:nvSpPr>
        <p:spPr>
          <a:xfrm>
            <a:off x="9427320" y="2139840"/>
            <a:ext cx="223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Heuristic PRO-vs-CON scan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3"/>
          <p:cNvSpPr/>
          <p:nvPr/>
        </p:nvSpPr>
        <p:spPr>
          <a:xfrm>
            <a:off x="2057400" y="3749040"/>
            <a:ext cx="233136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4"/>
          <p:cNvSpPr/>
          <p:nvPr/>
        </p:nvSpPr>
        <p:spPr>
          <a:xfrm>
            <a:off x="2167200" y="38404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5"/>
          <p:cNvSpPr/>
          <p:nvPr/>
        </p:nvSpPr>
        <p:spPr>
          <a:xfrm>
            <a:off x="2587680" y="384048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Recalculate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6"/>
          <p:cNvSpPr/>
          <p:nvPr/>
        </p:nvSpPr>
        <p:spPr>
          <a:xfrm>
            <a:off x="2185560" y="4206240"/>
            <a:ext cx="2075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 + debate score values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7"/>
          <p:cNvSpPr/>
          <p:nvPr/>
        </p:nvSpPr>
        <p:spPr>
          <a:xfrm>
            <a:off x="4389120" y="4315680"/>
            <a:ext cx="365760" cy="360"/>
          </a:xfrm>
          <a:prstGeom prst="line">
            <a:avLst/>
          </a:prstGeom>
          <a:ln w="1260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8"/>
          <p:cNvSpPr/>
          <p:nvPr/>
        </p:nvSpPr>
        <p:spPr>
          <a:xfrm>
            <a:off x="4800600" y="3749040"/>
            <a:ext cx="233136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9"/>
          <p:cNvSpPr/>
          <p:nvPr/>
        </p:nvSpPr>
        <p:spPr>
          <a:xfrm>
            <a:off x="4910400" y="38404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0"/>
          <p:cNvSpPr/>
          <p:nvPr/>
        </p:nvSpPr>
        <p:spPr>
          <a:xfrm>
            <a:off x="5330880" y="384048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Synthesize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31"/>
          <p:cNvSpPr/>
          <p:nvPr/>
        </p:nvSpPr>
        <p:spPr>
          <a:xfrm>
            <a:off x="4928760" y="4206240"/>
            <a:ext cx="2075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LLM if configured; fallback otherwise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32"/>
          <p:cNvSpPr/>
          <p:nvPr/>
        </p:nvSpPr>
        <p:spPr>
          <a:xfrm>
            <a:off x="7132320" y="4315680"/>
            <a:ext cx="365760" cy="360"/>
          </a:xfrm>
          <a:prstGeom prst="line">
            <a:avLst/>
          </a:prstGeom>
          <a:ln w="1260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33"/>
          <p:cNvSpPr/>
          <p:nvPr/>
        </p:nvSpPr>
        <p:spPr>
          <a:xfrm>
            <a:off x="7543800" y="3749040"/>
            <a:ext cx="2331360" cy="1142640"/>
          </a:xfrm>
          <a:prstGeom prst="roundRect">
            <a:avLst>
              <a:gd name="adj" fmla="val 9600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4"/>
          <p:cNvSpPr/>
          <p:nvPr/>
        </p:nvSpPr>
        <p:spPr>
          <a:xfrm>
            <a:off x="7653600" y="38404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35"/>
          <p:cNvSpPr/>
          <p:nvPr/>
        </p:nvSpPr>
        <p:spPr>
          <a:xfrm>
            <a:off x="8074080" y="384048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Save state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36"/>
          <p:cNvSpPr/>
          <p:nvPr/>
        </p:nvSpPr>
        <p:spPr>
          <a:xfrm>
            <a:off x="7671960" y="4206240"/>
            <a:ext cx="2075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Update synthesis + history event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sldNum" idx="18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FAA675-EF37-4902-8316-6CA789CCAE3A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14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68F0204B-AA16-C6E6-159C-AA797520F4A5}"/>
              </a:ext>
            </a:extLst>
          </p:cNvPr>
          <p:cNvSpPr/>
          <p:nvPr/>
        </p:nvSpPr>
        <p:spPr>
          <a:xfrm flipH="1">
            <a:off x="3538799" y="2825280"/>
            <a:ext cx="6965649" cy="869040"/>
          </a:xfrm>
          <a:prstGeom prst="line">
            <a:avLst/>
          </a:prstGeom>
          <a:ln w="12600">
            <a:solidFill>
              <a:srgbClr val="9CB1C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 • REASONING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Contradiction detection: useful flagging, not proof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detector compares PRO claims with CON claims and records potential conflicts.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>
            <a:off x="658440" y="1645920"/>
            <a:ext cx="3401280" cy="2450160"/>
          </a:xfrm>
          <a:prstGeom prst="roundRect">
            <a:avLst>
              <a:gd name="adj" fmla="val 447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5"/>
          <p:cNvSpPr/>
          <p:nvPr/>
        </p:nvSpPr>
        <p:spPr>
          <a:xfrm>
            <a:off x="658440" y="1645920"/>
            <a:ext cx="50040" cy="245016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6"/>
          <p:cNvSpPr/>
          <p:nvPr/>
        </p:nvSpPr>
        <p:spPr>
          <a:xfrm>
            <a:off x="822960" y="176472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INPUT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7"/>
          <p:cNvSpPr/>
          <p:nvPr/>
        </p:nvSpPr>
        <p:spPr>
          <a:xfrm>
            <a:off x="822960" y="2121480"/>
            <a:ext cx="309024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PRO claim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“AI improves diagnosis…”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CON claim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“AI can perform worse for certain groups…”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Compare possible opposing statements.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8"/>
          <p:cNvSpPr/>
          <p:nvPr/>
        </p:nvSpPr>
        <p:spPr>
          <a:xfrm>
            <a:off x="4389120" y="1645920"/>
            <a:ext cx="3401280" cy="2450160"/>
          </a:xfrm>
          <a:prstGeom prst="roundRect">
            <a:avLst>
              <a:gd name="adj" fmla="val 447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9"/>
          <p:cNvSpPr/>
          <p:nvPr/>
        </p:nvSpPr>
        <p:spPr>
          <a:xfrm>
            <a:off x="4389120" y="1645920"/>
            <a:ext cx="50040" cy="245016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0"/>
          <p:cNvSpPr/>
          <p:nvPr/>
        </p:nvSpPr>
        <p:spPr>
          <a:xfrm>
            <a:off x="4553640" y="176472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METHOD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1"/>
          <p:cNvSpPr/>
          <p:nvPr/>
        </p:nvSpPr>
        <p:spPr>
          <a:xfrm>
            <a:off x="4553640" y="2121480"/>
            <a:ext cx="309024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1. Token-set Jaccard overlap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2. Small positive/negative word-list check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3. Heuristic strength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4. Categorize and explain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5. Avoid duplicate pairs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2"/>
          <p:cNvSpPr/>
          <p:nvPr/>
        </p:nvSpPr>
        <p:spPr>
          <a:xfrm>
            <a:off x="8119800" y="1645920"/>
            <a:ext cx="3401280" cy="2450160"/>
          </a:xfrm>
          <a:prstGeom prst="roundRect">
            <a:avLst>
              <a:gd name="adj" fmla="val 447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3"/>
          <p:cNvSpPr/>
          <p:nvPr/>
        </p:nvSpPr>
        <p:spPr>
          <a:xfrm>
            <a:off x="8119800" y="1645920"/>
            <a:ext cx="50040" cy="2450160"/>
          </a:xfrm>
          <a:prstGeom prst="rect">
            <a:avLst/>
          </a:prstGeom>
          <a:solidFill>
            <a:srgbClr val="FF7189"/>
          </a:solidFill>
          <a:ln w="12600">
            <a:solidFill>
              <a:srgbClr val="FF718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4"/>
          <p:cNvSpPr/>
          <p:nvPr/>
        </p:nvSpPr>
        <p:spPr>
          <a:xfrm>
            <a:off x="8284320" y="176472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OUTPUT TYPES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5"/>
          <p:cNvSpPr/>
          <p:nvPr/>
        </p:nvSpPr>
        <p:spPr>
          <a:xfrm>
            <a:off x="8284320" y="2121480"/>
            <a:ext cx="309024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`direct_contradiction`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`contextual_disagreement`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`potential_conflict`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Edges can appear in the debate graph.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6"/>
          <p:cNvSpPr/>
          <p:nvPr/>
        </p:nvSpPr>
        <p:spPr>
          <a:xfrm>
            <a:off x="841320" y="4617720"/>
            <a:ext cx="10515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A real conflict may depend on population, geography, method, dataset, time period or assumptions.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1"/>
          <p:cNvSpPr>
            <a:spLocks noGrp="1"/>
          </p:cNvSpPr>
          <p:nvPr>
            <p:ph type="sldNum" idx="19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315EBED-CBB2-425A-B9A9-33D29A5F144F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15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 • TEMPORAL ENGINE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Temporal history: preserve selected changes over time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timeline is generated from application-level snapshots and events.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4"/>
          <p:cNvSpPr/>
          <p:nvPr/>
        </p:nvSpPr>
        <p:spPr>
          <a:xfrm>
            <a:off x="1206720" y="2770560"/>
            <a:ext cx="9144000" cy="360"/>
          </a:xfrm>
          <a:prstGeom prst="line">
            <a:avLst/>
          </a:prstGeom>
          <a:ln w="38160">
            <a:solidFill>
              <a:srgbClr val="2743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5"/>
          <p:cNvSpPr/>
          <p:nvPr/>
        </p:nvSpPr>
        <p:spPr>
          <a:xfrm>
            <a:off x="1005840" y="2541960"/>
            <a:ext cx="456840" cy="456840"/>
          </a:xfrm>
          <a:prstGeom prst="ellipse">
            <a:avLst/>
          </a:prstGeom>
          <a:solidFill>
            <a:srgbClr val="67D9FF"/>
          </a:solidFill>
          <a:ln w="1908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6"/>
          <p:cNvSpPr/>
          <p:nvPr/>
        </p:nvSpPr>
        <p:spPr>
          <a:xfrm>
            <a:off x="548640" y="32551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debate_created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7"/>
          <p:cNvSpPr/>
          <p:nvPr/>
        </p:nvSpPr>
        <p:spPr>
          <a:xfrm>
            <a:off x="585360" y="367596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Initial question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8"/>
          <p:cNvSpPr/>
          <p:nvPr/>
        </p:nvSpPr>
        <p:spPr>
          <a:xfrm>
            <a:off x="3017520" y="2541960"/>
            <a:ext cx="456840" cy="456840"/>
          </a:xfrm>
          <a:prstGeom prst="ellipse">
            <a:avLst/>
          </a:prstGeom>
          <a:solidFill>
            <a:srgbClr val="B99CFF"/>
          </a:solidFill>
          <a:ln w="1908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9"/>
          <p:cNvSpPr/>
          <p:nvPr/>
        </p:nvSpPr>
        <p:spPr>
          <a:xfrm>
            <a:off x="2560320" y="32551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claim_added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0"/>
          <p:cNvSpPr/>
          <p:nvPr/>
        </p:nvSpPr>
        <p:spPr>
          <a:xfrm>
            <a:off x="2597040" y="367596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New PRO/CON claim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1"/>
          <p:cNvSpPr/>
          <p:nvPr/>
        </p:nvSpPr>
        <p:spPr>
          <a:xfrm>
            <a:off x="5029200" y="2541960"/>
            <a:ext cx="456840" cy="456840"/>
          </a:xfrm>
          <a:prstGeom prst="ellipse">
            <a:avLst/>
          </a:prstGeom>
          <a:solidFill>
            <a:srgbClr val="70E0A4"/>
          </a:solidFill>
          <a:ln w="1908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2"/>
          <p:cNvSpPr/>
          <p:nvPr/>
        </p:nvSpPr>
        <p:spPr>
          <a:xfrm>
            <a:off x="4572000" y="32551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evidence_added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3"/>
          <p:cNvSpPr/>
          <p:nvPr/>
        </p:nvSpPr>
        <p:spPr>
          <a:xfrm>
            <a:off x="4608720" y="367596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Evidence + score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4"/>
          <p:cNvSpPr/>
          <p:nvPr/>
        </p:nvSpPr>
        <p:spPr>
          <a:xfrm>
            <a:off x="7040880" y="2541960"/>
            <a:ext cx="456840" cy="456840"/>
          </a:xfrm>
          <a:prstGeom prst="ellipse">
            <a:avLst/>
          </a:prstGeom>
          <a:solidFill>
            <a:srgbClr val="FFD166"/>
          </a:solidFill>
          <a:ln w="19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5"/>
          <p:cNvSpPr/>
          <p:nvPr/>
        </p:nvSpPr>
        <p:spPr>
          <a:xfrm>
            <a:off x="6583680" y="32551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analysis_completed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6"/>
          <p:cNvSpPr/>
          <p:nvPr/>
        </p:nvSpPr>
        <p:spPr>
          <a:xfrm>
            <a:off x="6620400" y="367596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Synthesis updated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7"/>
          <p:cNvSpPr/>
          <p:nvPr/>
        </p:nvSpPr>
        <p:spPr>
          <a:xfrm>
            <a:off x="9052560" y="2541960"/>
            <a:ext cx="456840" cy="456840"/>
          </a:xfrm>
          <a:prstGeom prst="ellipse">
            <a:avLst/>
          </a:prstGeom>
          <a:solidFill>
            <a:srgbClr val="FF7189"/>
          </a:solidFill>
          <a:ln w="19080">
            <a:solidFill>
              <a:srgbClr val="FF71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8"/>
          <p:cNvSpPr/>
          <p:nvPr/>
        </p:nvSpPr>
        <p:spPr>
          <a:xfrm>
            <a:off x="8595360" y="32551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7189"/>
                </a:solidFill>
                <a:effectLst/>
                <a:uFillTx/>
                <a:latin typeface="Aptos"/>
                <a:ea typeface="Aptos"/>
              </a:rPr>
              <a:t>later update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9"/>
          <p:cNvSpPr/>
          <p:nvPr/>
        </p:nvSpPr>
        <p:spPr>
          <a:xfrm>
            <a:off x="8632080" y="367596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New snapshot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0"/>
          <p:cNvSpPr/>
          <p:nvPr/>
        </p:nvSpPr>
        <p:spPr>
          <a:xfrm>
            <a:off x="1005840" y="4736520"/>
            <a:ext cx="10186200" cy="822600"/>
          </a:xfrm>
          <a:prstGeom prst="roundRect">
            <a:avLst>
              <a:gd name="adj" fmla="val 13333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1"/>
          <p:cNvSpPr/>
          <p:nvPr/>
        </p:nvSpPr>
        <p:spPr>
          <a:xfrm>
            <a:off x="1261800" y="49010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Stored snapshot fields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2"/>
          <p:cNvSpPr/>
          <p:nvPr/>
        </p:nvSpPr>
        <p:spPr>
          <a:xfrm>
            <a:off x="3182040" y="4855320"/>
            <a:ext cx="7726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timestamp • PRO score • CON score • confidence • evidence count • contradiction count • event summary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1"/>
          <p:cNvSpPr>
            <a:spLocks noGrp="1"/>
          </p:cNvSpPr>
          <p:nvPr>
            <p:ph type="sldNum" idx="20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67526FD-D6A7-4882-AA99-0BECB2121661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16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05 • RETRIEVAL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Search: keyword retrieval and semantic-search experiments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app provides two paths, with an honest fallback when trained embeddings are unavailable.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4"/>
          <p:cNvSpPr/>
          <p:nvPr/>
        </p:nvSpPr>
        <p:spPr>
          <a:xfrm>
            <a:off x="713160" y="1600200"/>
            <a:ext cx="5166000" cy="3337200"/>
          </a:xfrm>
          <a:prstGeom prst="roundRect">
            <a:avLst>
              <a:gd name="adj" fmla="val 328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5"/>
          <p:cNvSpPr/>
          <p:nvPr/>
        </p:nvSpPr>
        <p:spPr>
          <a:xfrm>
            <a:off x="713160" y="1600200"/>
            <a:ext cx="50040" cy="333720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6"/>
          <p:cNvSpPr/>
          <p:nvPr/>
        </p:nvSpPr>
        <p:spPr>
          <a:xfrm>
            <a:off x="877680" y="1719000"/>
            <a:ext cx="4873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KEYWORD SEARCH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7"/>
          <p:cNvSpPr/>
          <p:nvPr/>
        </p:nvSpPr>
        <p:spPr>
          <a:xfrm>
            <a:off x="877680" y="2075760"/>
            <a:ext cx="485496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Searches fields including: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debate question / description / domain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claim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evidence title / content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• source title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Can filter by domain and limit results.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Uses case-insensitive matching.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8"/>
          <p:cNvSpPr/>
          <p:nvPr/>
        </p:nvSpPr>
        <p:spPr>
          <a:xfrm>
            <a:off x="6291000" y="1600200"/>
            <a:ext cx="5166000" cy="3337200"/>
          </a:xfrm>
          <a:prstGeom prst="roundRect">
            <a:avLst>
              <a:gd name="adj" fmla="val 328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9"/>
          <p:cNvSpPr/>
          <p:nvPr/>
        </p:nvSpPr>
        <p:spPr>
          <a:xfrm>
            <a:off x="6291000" y="1600200"/>
            <a:ext cx="50040" cy="333720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0"/>
          <p:cNvSpPr/>
          <p:nvPr/>
        </p:nvSpPr>
        <p:spPr>
          <a:xfrm>
            <a:off x="6455520" y="1719000"/>
            <a:ext cx="4873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SEMANTIC SEARCH PATH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1"/>
          <p:cNvSpPr/>
          <p:nvPr/>
        </p:nvSpPr>
        <p:spPr>
          <a:xfrm>
            <a:off x="6455520" y="2075760"/>
            <a:ext cx="485496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1. Embed query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2. Load claim/evidence vectors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3. Compute cosine similarity in Python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4. Rank candidates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5. Apply filters: source type, reliability, support/opposition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Falls back to keyword search if vectors are absent.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1"/>
          <p:cNvSpPr>
            <a:spLocks noGrp="1"/>
          </p:cNvSpPr>
          <p:nvPr>
            <p:ph type="sldNum" idx="21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37B289-12ED-4367-B98A-5BF14DC0BA89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17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06 • DATABASE ENGINEERING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CRUD and API surface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 API provides controlled operations for debates, claims, evidence and related resources.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4"/>
          <p:cNvSpPr/>
          <p:nvPr/>
        </p:nvSpPr>
        <p:spPr>
          <a:xfrm>
            <a:off x="640080" y="1572840"/>
            <a:ext cx="3273120" cy="3181680"/>
          </a:xfrm>
          <a:prstGeom prst="roundRect">
            <a:avLst>
              <a:gd name="adj" fmla="val 344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804600" y="1774080"/>
            <a:ext cx="2944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DEBATES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6"/>
          <p:cNvSpPr/>
          <p:nvPr/>
        </p:nvSpPr>
        <p:spPr>
          <a:xfrm>
            <a:off x="822960" y="232272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POST  /api/debates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7"/>
          <p:cNvSpPr/>
          <p:nvPr/>
        </p:nvSpPr>
        <p:spPr>
          <a:xfrm>
            <a:off x="822960" y="271584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GET   /api/debates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8"/>
          <p:cNvSpPr/>
          <p:nvPr/>
        </p:nvSpPr>
        <p:spPr>
          <a:xfrm>
            <a:off x="822960" y="310896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GET   /api/debates/{id}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9"/>
          <p:cNvSpPr/>
          <p:nvPr/>
        </p:nvSpPr>
        <p:spPr>
          <a:xfrm>
            <a:off x="822960" y="350208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PUT   /api/debates/{id}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0"/>
          <p:cNvSpPr/>
          <p:nvPr/>
        </p:nvSpPr>
        <p:spPr>
          <a:xfrm>
            <a:off x="822960" y="389520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DELETE /api/debates/{id}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1"/>
          <p:cNvSpPr/>
          <p:nvPr/>
        </p:nvSpPr>
        <p:spPr>
          <a:xfrm>
            <a:off x="4462200" y="1572840"/>
            <a:ext cx="3273120" cy="3181680"/>
          </a:xfrm>
          <a:prstGeom prst="roundRect">
            <a:avLst>
              <a:gd name="adj" fmla="val 344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2"/>
          <p:cNvSpPr/>
          <p:nvPr/>
        </p:nvSpPr>
        <p:spPr>
          <a:xfrm>
            <a:off x="4626720" y="1774080"/>
            <a:ext cx="2944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CLAIMS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4645080" y="232272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POST  /api/claims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4"/>
          <p:cNvSpPr/>
          <p:nvPr/>
        </p:nvSpPr>
        <p:spPr>
          <a:xfrm>
            <a:off x="4645080" y="271584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GET   /api/claims/{id}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5"/>
          <p:cNvSpPr/>
          <p:nvPr/>
        </p:nvSpPr>
        <p:spPr>
          <a:xfrm>
            <a:off x="4645080" y="310896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GET   /api/claims/debate/{id}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6"/>
          <p:cNvSpPr/>
          <p:nvPr/>
        </p:nvSpPr>
        <p:spPr>
          <a:xfrm>
            <a:off x="4645080" y="350208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PUT   /api/claims/{id}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7"/>
          <p:cNvSpPr/>
          <p:nvPr/>
        </p:nvSpPr>
        <p:spPr>
          <a:xfrm>
            <a:off x="4645080" y="389520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DELETE /api/claims/{id}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8"/>
          <p:cNvSpPr/>
          <p:nvPr/>
        </p:nvSpPr>
        <p:spPr>
          <a:xfrm>
            <a:off x="8284320" y="1572840"/>
            <a:ext cx="3273120" cy="3181680"/>
          </a:xfrm>
          <a:prstGeom prst="roundRect">
            <a:avLst>
              <a:gd name="adj" fmla="val 344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9"/>
          <p:cNvSpPr/>
          <p:nvPr/>
        </p:nvSpPr>
        <p:spPr>
          <a:xfrm>
            <a:off x="8449200" y="1774080"/>
            <a:ext cx="2944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EVIDENCE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0"/>
          <p:cNvSpPr/>
          <p:nvPr/>
        </p:nvSpPr>
        <p:spPr>
          <a:xfrm>
            <a:off x="8467200" y="232272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POST  /api/evidence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1"/>
          <p:cNvSpPr/>
          <p:nvPr/>
        </p:nvSpPr>
        <p:spPr>
          <a:xfrm>
            <a:off x="8467200" y="271584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GET   /api/evidence/{id}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2"/>
          <p:cNvSpPr/>
          <p:nvPr/>
        </p:nvSpPr>
        <p:spPr>
          <a:xfrm>
            <a:off x="8467200" y="310896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GET   /api/evidence/claim/{id}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3"/>
          <p:cNvSpPr/>
          <p:nvPr/>
        </p:nvSpPr>
        <p:spPr>
          <a:xfrm>
            <a:off x="8467200" y="350208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PUT   /api/evidence/{id}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4"/>
          <p:cNvSpPr/>
          <p:nvPr/>
        </p:nvSpPr>
        <p:spPr>
          <a:xfrm>
            <a:off x="8467200" y="3895200"/>
            <a:ext cx="290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9F1"/>
                </a:solidFill>
                <a:effectLst/>
                <a:uFillTx/>
                <a:latin typeface="Consolas"/>
                <a:ea typeface="Consolas"/>
              </a:rPr>
              <a:t>DELETE /api/evidence/{id}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5"/>
          <p:cNvSpPr/>
          <p:nvPr/>
        </p:nvSpPr>
        <p:spPr>
          <a:xfrm>
            <a:off x="914400" y="5148000"/>
            <a:ext cx="10240920" cy="712800"/>
          </a:xfrm>
          <a:prstGeom prst="roundRect">
            <a:avLst>
              <a:gd name="adj" fmla="val 15385"/>
            </a:avLst>
          </a:prstGeom>
          <a:solidFill>
            <a:srgbClr val="111E2B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6"/>
          <p:cNvSpPr/>
          <p:nvPr/>
        </p:nvSpPr>
        <p:spPr>
          <a:xfrm>
            <a:off x="1143000" y="52945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Validation and serialization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7"/>
          <p:cNvSpPr/>
          <p:nvPr/>
        </p:nvSpPr>
        <p:spPr>
          <a:xfrm>
            <a:off x="3291840" y="5239440"/>
            <a:ext cx="7543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Pydantic validates payloads; MongoDB ObjectIds and Dates are converted to JSON-friendly responses.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sldNum" idx="22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DC1AA8C-B30D-456E-968F-13F0794C5541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18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06 • DATABASE ENGINEERING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Query Explorer: 12 predefined MongoDB operations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Safe named queries expose meaningful patterns without arbitrary browser-side Mongo execution.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4"/>
          <p:cNvSpPr/>
          <p:nvPr/>
        </p:nvSpPr>
        <p:spPr>
          <a:xfrm>
            <a:off x="658440" y="1572840"/>
            <a:ext cx="3346200" cy="3821760"/>
          </a:xfrm>
          <a:prstGeom prst="roundRect">
            <a:avLst>
              <a:gd name="adj" fmla="val 327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5"/>
          <p:cNvSpPr/>
          <p:nvPr/>
        </p:nvSpPr>
        <p:spPr>
          <a:xfrm>
            <a:off x="822960" y="176472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RETRIEVE &amp; FILTER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6"/>
          <p:cNvSpPr/>
          <p:nvPr/>
        </p:nvSpPr>
        <p:spPr>
          <a:xfrm>
            <a:off x="841320" y="2322720"/>
            <a:ext cx="72720" cy="72720"/>
          </a:xfrm>
          <a:prstGeom prst="ellipse">
            <a:avLst/>
          </a:prstGeom>
          <a:solidFill>
            <a:srgbClr val="67D9FF"/>
          </a:solidFill>
          <a:ln w="1260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7"/>
          <p:cNvSpPr/>
          <p:nvPr/>
        </p:nvSpPr>
        <p:spPr>
          <a:xfrm>
            <a:off x="1005840" y="226764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Q1  List debates by newest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8"/>
          <p:cNvSpPr/>
          <p:nvPr/>
        </p:nvSpPr>
        <p:spPr>
          <a:xfrm>
            <a:off x="841320" y="2853000"/>
            <a:ext cx="72720" cy="72720"/>
          </a:xfrm>
          <a:prstGeom prst="ellipse">
            <a:avLst/>
          </a:prstGeom>
          <a:solidFill>
            <a:srgbClr val="67D9FF"/>
          </a:solidFill>
          <a:ln w="1260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9"/>
          <p:cNvSpPr/>
          <p:nvPr/>
        </p:nvSpPr>
        <p:spPr>
          <a:xfrm>
            <a:off x="1005840" y="279792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Q2  Claims for a debate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0"/>
          <p:cNvSpPr/>
          <p:nvPr/>
        </p:nvSpPr>
        <p:spPr>
          <a:xfrm>
            <a:off x="841320" y="3383280"/>
            <a:ext cx="72720" cy="72720"/>
          </a:xfrm>
          <a:prstGeom prst="ellipse">
            <a:avLst/>
          </a:prstGeom>
          <a:solidFill>
            <a:srgbClr val="67D9FF"/>
          </a:solidFill>
          <a:ln w="1260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1"/>
          <p:cNvSpPr/>
          <p:nvPr/>
        </p:nvSpPr>
        <p:spPr>
          <a:xfrm>
            <a:off x="1005840" y="332856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Q4  Strongest supporting evidence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12"/>
          <p:cNvSpPr/>
          <p:nvPr/>
        </p:nvSpPr>
        <p:spPr>
          <a:xfrm>
            <a:off x="841320" y="3913560"/>
            <a:ext cx="72720" cy="72720"/>
          </a:xfrm>
          <a:prstGeom prst="ellipse">
            <a:avLst/>
          </a:prstGeom>
          <a:solidFill>
            <a:srgbClr val="67D9FF"/>
          </a:solidFill>
          <a:ln w="1260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3"/>
          <p:cNvSpPr/>
          <p:nvPr/>
        </p:nvSpPr>
        <p:spPr>
          <a:xfrm>
            <a:off x="1005840" y="385884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Q5  Strongest opposing evidence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14"/>
          <p:cNvSpPr/>
          <p:nvPr/>
        </p:nvSpPr>
        <p:spPr>
          <a:xfrm>
            <a:off x="841320" y="4443840"/>
            <a:ext cx="72720" cy="72720"/>
          </a:xfrm>
          <a:prstGeom prst="ellipse">
            <a:avLst/>
          </a:prstGeom>
          <a:solidFill>
            <a:srgbClr val="67D9FF"/>
          </a:solidFill>
          <a:ln w="12600">
            <a:solidFill>
              <a:srgbClr val="67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5"/>
          <p:cNvSpPr/>
          <p:nvPr/>
        </p:nvSpPr>
        <p:spPr>
          <a:xfrm>
            <a:off x="1005840" y="438912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Q8  History in timestamp order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6"/>
          <p:cNvSpPr/>
          <p:nvPr/>
        </p:nvSpPr>
        <p:spPr>
          <a:xfrm>
            <a:off x="4434840" y="1572840"/>
            <a:ext cx="3346200" cy="3821760"/>
          </a:xfrm>
          <a:prstGeom prst="roundRect">
            <a:avLst>
              <a:gd name="adj" fmla="val 327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7"/>
          <p:cNvSpPr/>
          <p:nvPr/>
        </p:nvSpPr>
        <p:spPr>
          <a:xfrm>
            <a:off x="4599360" y="176472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RANK &amp; INSPECT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8"/>
          <p:cNvSpPr/>
          <p:nvPr/>
        </p:nvSpPr>
        <p:spPr>
          <a:xfrm>
            <a:off x="4617720" y="2322720"/>
            <a:ext cx="72720" cy="72720"/>
          </a:xfrm>
          <a:prstGeom prst="ellipse">
            <a:avLst/>
          </a:prstGeom>
          <a:solidFill>
            <a:srgbClr val="B99CFF"/>
          </a:solidFill>
          <a:ln w="1260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9"/>
          <p:cNvSpPr/>
          <p:nvPr/>
        </p:nvSpPr>
        <p:spPr>
          <a:xfrm>
            <a:off x="4782240" y="226764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Q6  High-strength conflicts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20"/>
          <p:cNvSpPr/>
          <p:nvPr/>
        </p:nvSpPr>
        <p:spPr>
          <a:xfrm>
            <a:off x="4617720" y="2853000"/>
            <a:ext cx="72720" cy="72720"/>
          </a:xfrm>
          <a:prstGeom prst="ellipse">
            <a:avLst/>
          </a:prstGeom>
          <a:solidFill>
            <a:srgbClr val="B99CFF"/>
          </a:solidFill>
          <a:ln w="1260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1"/>
          <p:cNvSpPr/>
          <p:nvPr/>
        </p:nvSpPr>
        <p:spPr>
          <a:xfrm>
            <a:off x="4782240" y="279792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Q9  Low-confidence claims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22"/>
          <p:cNvSpPr/>
          <p:nvPr/>
        </p:nvSpPr>
        <p:spPr>
          <a:xfrm>
            <a:off x="4617720" y="3383280"/>
            <a:ext cx="72720" cy="72720"/>
          </a:xfrm>
          <a:prstGeom prst="ellipse">
            <a:avLst/>
          </a:prstGeom>
          <a:solidFill>
            <a:srgbClr val="B99CFF"/>
          </a:solidFill>
          <a:ln w="1260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3"/>
          <p:cNvSpPr/>
          <p:nvPr/>
        </p:nvSpPr>
        <p:spPr>
          <a:xfrm>
            <a:off x="4782240" y="332856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Q10 Rank claims by confidence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24"/>
          <p:cNvSpPr/>
          <p:nvPr/>
        </p:nvSpPr>
        <p:spPr>
          <a:xfrm>
            <a:off x="4617720" y="3913560"/>
            <a:ext cx="72720" cy="72720"/>
          </a:xfrm>
          <a:prstGeom prst="ellipse">
            <a:avLst/>
          </a:prstGeom>
          <a:solidFill>
            <a:srgbClr val="B99CFF"/>
          </a:solidFill>
          <a:ln w="12600">
            <a:solidFill>
              <a:srgbClr val="B99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25"/>
          <p:cNvSpPr/>
          <p:nvPr/>
        </p:nvSpPr>
        <p:spPr>
          <a:xfrm>
            <a:off x="4782240" y="385884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Q11 Evidence-weighted score ($lookup)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26"/>
          <p:cNvSpPr/>
          <p:nvPr/>
        </p:nvSpPr>
        <p:spPr>
          <a:xfrm>
            <a:off x="8211240" y="1572840"/>
            <a:ext cx="3346200" cy="3821760"/>
          </a:xfrm>
          <a:prstGeom prst="roundRect">
            <a:avLst>
              <a:gd name="adj" fmla="val 327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27"/>
          <p:cNvSpPr/>
          <p:nvPr/>
        </p:nvSpPr>
        <p:spPr>
          <a:xfrm>
            <a:off x="8375760" y="176472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AGGREGATE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8"/>
          <p:cNvSpPr/>
          <p:nvPr/>
        </p:nvSpPr>
        <p:spPr>
          <a:xfrm>
            <a:off x="8394120" y="2322720"/>
            <a:ext cx="72720" cy="72720"/>
          </a:xfrm>
          <a:prstGeom prst="ellipse">
            <a:avLst/>
          </a:prstGeom>
          <a:solidFill>
            <a:srgbClr val="70E0A4"/>
          </a:solidFill>
          <a:ln w="1260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9"/>
          <p:cNvSpPr/>
          <p:nvPr/>
        </p:nvSpPr>
        <p:spPr>
          <a:xfrm>
            <a:off x="8558640" y="226764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Q3  PRO vs CON average confidence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30"/>
          <p:cNvSpPr/>
          <p:nvPr/>
        </p:nvSpPr>
        <p:spPr>
          <a:xfrm>
            <a:off x="8394120" y="2853000"/>
            <a:ext cx="72720" cy="72720"/>
          </a:xfrm>
          <a:prstGeom prst="ellipse">
            <a:avLst/>
          </a:prstGeom>
          <a:solidFill>
            <a:srgbClr val="70E0A4"/>
          </a:solidFill>
          <a:ln w="1260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31"/>
          <p:cNvSpPr/>
          <p:nvPr/>
        </p:nvSpPr>
        <p:spPr>
          <a:xfrm>
            <a:off x="8558640" y="279792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Q7  Reliability by source type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2"/>
          <p:cNvSpPr/>
          <p:nvPr/>
        </p:nvSpPr>
        <p:spPr>
          <a:xfrm>
            <a:off x="8394120" y="3383280"/>
            <a:ext cx="72720" cy="72720"/>
          </a:xfrm>
          <a:prstGeom prst="ellipse">
            <a:avLst/>
          </a:prstGeom>
          <a:solidFill>
            <a:srgbClr val="70E0A4"/>
          </a:solidFill>
          <a:ln w="12600">
            <a:solidFill>
              <a:srgbClr val="70E0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33"/>
          <p:cNvSpPr/>
          <p:nvPr/>
        </p:nvSpPr>
        <p:spPr>
          <a:xfrm>
            <a:off x="8558640" y="3328560"/>
            <a:ext cx="2761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Q12 Domain statistics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1"/>
          <p:cNvSpPr>
            <a:spLocks noGrp="1"/>
          </p:cNvSpPr>
          <p:nvPr>
            <p:ph type="sldNum" idx="23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DA7D14B-64BE-4AB2-9567-B1C24F257BBF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19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06 • DATABASE ENGINEERING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Indexes and aggregation pipelines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Indexes match actual access patterns; aggregation computes grouped metrics inside MongoDB.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4"/>
          <p:cNvSpPr/>
          <p:nvPr/>
        </p:nvSpPr>
        <p:spPr>
          <a:xfrm>
            <a:off x="658440" y="1554480"/>
            <a:ext cx="5303160" cy="3611520"/>
          </a:xfrm>
          <a:prstGeom prst="roundRect">
            <a:avLst>
              <a:gd name="adj" fmla="val 303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5"/>
          <p:cNvSpPr/>
          <p:nvPr/>
        </p:nvSpPr>
        <p:spPr>
          <a:xfrm>
            <a:off x="658440" y="1554480"/>
            <a:ext cx="50040" cy="361152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6"/>
          <p:cNvSpPr/>
          <p:nvPr/>
        </p:nvSpPr>
        <p:spPr>
          <a:xfrm>
            <a:off x="822960" y="1673280"/>
            <a:ext cx="5010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INDEX EXAMPLES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7"/>
          <p:cNvSpPr/>
          <p:nvPr/>
        </p:nvSpPr>
        <p:spPr>
          <a:xfrm>
            <a:off x="822960" y="2030040"/>
            <a:ext cx="4992120" cy="30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debates: `domain + created_at`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Filter by domain and sort newest first.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claims: `debate_id + position + confidence`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Load PRO/CON panels ranked by confidence.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evidence: `claim_id + supports + reliability + relevance`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Rank support/opposition evidence.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Other indexes: contradictions, history, sources, embeddings, counterarguments.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8"/>
          <p:cNvSpPr/>
          <p:nvPr/>
        </p:nvSpPr>
        <p:spPr>
          <a:xfrm>
            <a:off x="6236280" y="1554480"/>
            <a:ext cx="5303160" cy="3611520"/>
          </a:xfrm>
          <a:prstGeom prst="roundRect">
            <a:avLst>
              <a:gd name="adj" fmla="val 3038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9"/>
          <p:cNvSpPr/>
          <p:nvPr/>
        </p:nvSpPr>
        <p:spPr>
          <a:xfrm>
            <a:off x="6236280" y="1554480"/>
            <a:ext cx="50040" cy="3611520"/>
          </a:xfrm>
          <a:prstGeom prst="rect">
            <a:avLst/>
          </a:prstGeom>
          <a:solidFill>
            <a:srgbClr val="70E0A4"/>
          </a:solidFill>
          <a:ln w="12600">
            <a:solidFill>
              <a:srgbClr val="70E0A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0"/>
          <p:cNvSpPr/>
          <p:nvPr/>
        </p:nvSpPr>
        <p:spPr>
          <a:xfrm>
            <a:off x="6400800" y="1673280"/>
            <a:ext cx="5010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AGGREGATION EXAMPLES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1"/>
          <p:cNvSpPr/>
          <p:nvPr/>
        </p:nvSpPr>
        <p:spPr>
          <a:xfrm>
            <a:off x="6400800" y="2030040"/>
            <a:ext cx="4992120" cy="30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1. PRO vs CON average confidence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`$match` + `$group` + `$avg`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2. Evidence quality by source type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`$group` + `$avg` + `$sort`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3. Evidence-weighted score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`$lookup` + `$map` + `$sum` + `$cond`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Also: evidence count per claim, top claims, contradiction distribution and domain statistics.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1"/>
          <p:cNvSpPr>
            <a:spLocks noGrp="1"/>
          </p:cNvSpPr>
          <p:nvPr>
            <p:ph type="sldNum" idx="24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07A647-83FB-4097-B308-1FA4B6A18445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20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07 • VERIFICATION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Latest documented runtime: the app is connected and serving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These values are from the latest runtime notes provided; refresh health before the faculty demo.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4"/>
          <p:cNvSpPr/>
          <p:nvPr/>
        </p:nvSpPr>
        <p:spPr>
          <a:xfrm>
            <a:off x="713160" y="1627560"/>
            <a:ext cx="2559960" cy="1234080"/>
          </a:xfrm>
          <a:prstGeom prst="roundRect">
            <a:avLst>
              <a:gd name="adj" fmla="val 888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5"/>
          <p:cNvSpPr/>
          <p:nvPr/>
        </p:nvSpPr>
        <p:spPr>
          <a:xfrm>
            <a:off x="822960" y="173736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CONNECTED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6"/>
          <p:cNvSpPr/>
          <p:nvPr/>
        </p:nvSpPr>
        <p:spPr>
          <a:xfrm>
            <a:off x="804600" y="220356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MongoDB health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7"/>
          <p:cNvSpPr/>
          <p:nvPr/>
        </p:nvSpPr>
        <p:spPr>
          <a:xfrm>
            <a:off x="804600" y="255132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API: /api/health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8"/>
          <p:cNvSpPr/>
          <p:nvPr/>
        </p:nvSpPr>
        <p:spPr>
          <a:xfrm>
            <a:off x="3447360" y="1627560"/>
            <a:ext cx="2559960" cy="1234080"/>
          </a:xfrm>
          <a:prstGeom prst="roundRect">
            <a:avLst>
              <a:gd name="adj" fmla="val 888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9"/>
          <p:cNvSpPr/>
          <p:nvPr/>
        </p:nvSpPr>
        <p:spPr>
          <a:xfrm>
            <a:off x="3557160" y="173736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0"/>
          <p:cNvSpPr/>
          <p:nvPr/>
        </p:nvSpPr>
        <p:spPr>
          <a:xfrm>
            <a:off x="3538800" y="220356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Debates returned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1"/>
          <p:cNvSpPr/>
          <p:nvPr/>
        </p:nvSpPr>
        <p:spPr>
          <a:xfrm>
            <a:off x="3538800" y="255132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GET /api/debates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2"/>
          <p:cNvSpPr/>
          <p:nvPr/>
        </p:nvSpPr>
        <p:spPr>
          <a:xfrm>
            <a:off x="6181200" y="1627560"/>
            <a:ext cx="2559960" cy="1234080"/>
          </a:xfrm>
          <a:prstGeom prst="roundRect">
            <a:avLst>
              <a:gd name="adj" fmla="val 888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3"/>
          <p:cNvSpPr/>
          <p:nvPr/>
        </p:nvSpPr>
        <p:spPr>
          <a:xfrm>
            <a:off x="6291000" y="173736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489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4"/>
          <p:cNvSpPr/>
          <p:nvPr/>
        </p:nvSpPr>
        <p:spPr>
          <a:xfrm>
            <a:off x="6272640" y="220356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Tracked documents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5"/>
          <p:cNvSpPr/>
          <p:nvPr/>
        </p:nvSpPr>
        <p:spPr>
          <a:xfrm>
            <a:off x="6272640" y="255132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health endpoint count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6"/>
          <p:cNvSpPr/>
          <p:nvPr/>
        </p:nvSpPr>
        <p:spPr>
          <a:xfrm>
            <a:off x="8915400" y="1627560"/>
            <a:ext cx="2559960" cy="1234080"/>
          </a:xfrm>
          <a:prstGeom prst="roundRect">
            <a:avLst>
              <a:gd name="adj" fmla="val 8889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7"/>
          <p:cNvSpPr/>
          <p:nvPr/>
        </p:nvSpPr>
        <p:spPr>
          <a:xfrm>
            <a:off x="9025200" y="173736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8"/>
          <p:cNvSpPr/>
          <p:nvPr/>
        </p:nvSpPr>
        <p:spPr>
          <a:xfrm>
            <a:off x="9006840" y="220356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Indexes reported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9"/>
          <p:cNvSpPr/>
          <p:nvPr/>
        </p:nvSpPr>
        <p:spPr>
          <a:xfrm>
            <a:off x="9006840" y="255132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live count; recheck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20"/>
          <p:cNvSpPr/>
          <p:nvPr/>
        </p:nvSpPr>
        <p:spPr>
          <a:xfrm>
            <a:off x="804600" y="3401640"/>
            <a:ext cx="10569960" cy="1316520"/>
          </a:xfrm>
          <a:prstGeom prst="roundRect">
            <a:avLst>
              <a:gd name="adj" fmla="val 8333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21"/>
          <p:cNvSpPr/>
          <p:nvPr/>
        </p:nvSpPr>
        <p:spPr>
          <a:xfrm>
            <a:off x="1078920" y="3584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Running endpoints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22"/>
          <p:cNvSpPr/>
          <p:nvPr/>
        </p:nvSpPr>
        <p:spPr>
          <a:xfrm>
            <a:off x="1078920" y="3968640"/>
            <a:ext cx="438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Frontend  •  http://127.0.0.1:5173/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23"/>
          <p:cNvSpPr/>
          <p:nvPr/>
        </p:nvSpPr>
        <p:spPr>
          <a:xfrm>
            <a:off x="5559480" y="3968640"/>
            <a:ext cx="5211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Swagger  •  http://127.0.0.1:8000/docs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4"/>
          <p:cNvSpPr/>
          <p:nvPr/>
        </p:nvSpPr>
        <p:spPr>
          <a:xfrm>
            <a:off x="1078920" y="4316040"/>
            <a:ext cx="5577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Health  •  http://127.0.0.1:8000/api/health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25"/>
          <p:cNvSpPr/>
          <p:nvPr/>
        </p:nvSpPr>
        <p:spPr>
          <a:xfrm>
            <a:off x="1005840" y="5184720"/>
            <a:ext cx="10103760" cy="658080"/>
          </a:xfrm>
          <a:prstGeom prst="roundRect">
            <a:avLst>
              <a:gd name="adj" fmla="val 16667"/>
            </a:avLst>
          </a:prstGeom>
          <a:solidFill>
            <a:srgbClr val="241B0D"/>
          </a:solidFill>
          <a:ln w="10080">
            <a:solidFill>
              <a:srgbClr val="FFD1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6"/>
          <p:cNvSpPr/>
          <p:nvPr/>
        </p:nvSpPr>
        <p:spPr>
          <a:xfrm>
            <a:off x="1207080" y="5340240"/>
            <a:ext cx="9692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Change Streams are in fallback mode on standalone local MongoDB; ordinary CRUD/read operations remain available.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1"/>
          <p:cNvSpPr>
            <a:spLocks noGrp="1"/>
          </p:cNvSpPr>
          <p:nvPr>
            <p:ph type="sldNum" idx="25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21DC5D7-FE2B-410B-823D-61A11642ED81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21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 0"/>
          <p:cNvSpPr/>
          <p:nvPr/>
        </p:nvSpPr>
        <p:spPr>
          <a:xfrm>
            <a:off x="530280" y="25596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08 • TEAM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"/>
          <p:cNvSpPr/>
          <p:nvPr/>
        </p:nvSpPr>
        <p:spPr>
          <a:xfrm>
            <a:off x="530280" y="51192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Team responsibility map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"/>
          <p:cNvSpPr/>
          <p:nvPr/>
        </p:nvSpPr>
        <p:spPr>
          <a:xfrm>
            <a:off x="548640" y="9874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Use these as the stated role allocation, but align contribution claims with actual work.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3"/>
          <p:cNvSpPr/>
          <p:nvPr/>
        </p:nvSpPr>
        <p:spPr>
          <a:xfrm>
            <a:off x="530280" y="6556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51">
                <a:solidFill>
                  <a:srgbClr val="698394"/>
                </a:solidFill>
                <a:effectLst/>
                <a:uFillTx/>
                <a:latin typeface="Aptos"/>
                <a:ea typeface="Aptos"/>
              </a:rPr>
              <a:t>VERITAS  •  FACULTY DEMONSTRATION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4"/>
          <p:cNvSpPr/>
          <p:nvPr/>
        </p:nvSpPr>
        <p:spPr>
          <a:xfrm>
            <a:off x="694800" y="1627560"/>
            <a:ext cx="3456000" cy="3291480"/>
          </a:xfrm>
          <a:prstGeom prst="roundRect">
            <a:avLst>
              <a:gd name="adj" fmla="val 3333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5"/>
          <p:cNvSpPr/>
          <p:nvPr/>
        </p:nvSpPr>
        <p:spPr>
          <a:xfrm>
            <a:off x="694800" y="1627560"/>
            <a:ext cx="50040" cy="3291480"/>
          </a:xfrm>
          <a:prstGeom prst="rect">
            <a:avLst/>
          </a:prstGeom>
          <a:solidFill>
            <a:srgbClr val="67D9FF"/>
          </a:solidFill>
          <a:ln w="12600">
            <a:solidFill>
              <a:srgbClr val="67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6"/>
          <p:cNvSpPr/>
          <p:nvPr/>
        </p:nvSpPr>
        <p:spPr>
          <a:xfrm>
            <a:off x="859680" y="17463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MEMBER 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7"/>
          <p:cNvSpPr/>
          <p:nvPr/>
        </p:nvSpPr>
        <p:spPr>
          <a:xfrm>
            <a:off x="859680" y="2103120"/>
            <a:ext cx="3145320" cy="27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Naman Sharma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Register: 23BCE1683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Role: MongoDB Data Architect &amp; Backend Lead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Focus: NoSQL model, collection design, embedding/reference strategy, seed/index design and database evidence.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8"/>
          <p:cNvSpPr/>
          <p:nvPr/>
        </p:nvSpPr>
        <p:spPr>
          <a:xfrm>
            <a:off x="4370760" y="1627560"/>
            <a:ext cx="3456000" cy="3291480"/>
          </a:xfrm>
          <a:prstGeom prst="roundRect">
            <a:avLst>
              <a:gd name="adj" fmla="val 3333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9"/>
          <p:cNvSpPr/>
          <p:nvPr/>
        </p:nvSpPr>
        <p:spPr>
          <a:xfrm>
            <a:off x="4370760" y="1627560"/>
            <a:ext cx="50040" cy="3291480"/>
          </a:xfrm>
          <a:prstGeom prst="rect">
            <a:avLst/>
          </a:prstGeom>
          <a:solidFill>
            <a:srgbClr val="B99CFF"/>
          </a:solidFill>
          <a:ln w="12600">
            <a:solidFill>
              <a:srgbClr val="B99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0"/>
          <p:cNvSpPr/>
          <p:nvPr/>
        </p:nvSpPr>
        <p:spPr>
          <a:xfrm>
            <a:off x="4535280" y="17463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MEMBER 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11"/>
          <p:cNvSpPr/>
          <p:nvPr/>
        </p:nvSpPr>
        <p:spPr>
          <a:xfrm>
            <a:off x="4535280" y="2103120"/>
            <a:ext cx="3145320" cy="27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Register: 23BCE1665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Role: AI &amp; Evidence Analysis Lead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Focus: evidence workflow, scoring inputs, research/claim analysis and evaluation of the AI-assisted pipeline.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12"/>
          <p:cNvSpPr/>
          <p:nvPr/>
        </p:nvSpPr>
        <p:spPr>
          <a:xfrm>
            <a:off x="8046720" y="1627560"/>
            <a:ext cx="3456000" cy="3291480"/>
          </a:xfrm>
          <a:prstGeom prst="roundRect">
            <a:avLst>
              <a:gd name="adj" fmla="val 3333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13"/>
          <p:cNvSpPr/>
          <p:nvPr/>
        </p:nvSpPr>
        <p:spPr>
          <a:xfrm>
            <a:off x="8046720" y="1627560"/>
            <a:ext cx="50040" cy="3291480"/>
          </a:xfrm>
          <a:prstGeom prst="rect">
            <a:avLst/>
          </a:prstGeom>
          <a:solidFill>
            <a:srgbClr val="70E0A4"/>
          </a:solidFill>
          <a:ln w="12600">
            <a:solidFill>
              <a:srgbClr val="70E0A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14"/>
          <p:cNvSpPr/>
          <p:nvPr/>
        </p:nvSpPr>
        <p:spPr>
          <a:xfrm>
            <a:off x="8211240" y="17463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MEMBER 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15"/>
          <p:cNvSpPr/>
          <p:nvPr/>
        </p:nvSpPr>
        <p:spPr>
          <a:xfrm>
            <a:off x="8211240" y="2103120"/>
            <a:ext cx="3145320" cy="27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Register: 23BCE5048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Role: System Integration, Visualization &amp; Evaluation Lead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Focus: integration, React views, graph/timeline presentation, testing and project demonstration evidence.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1"/>
          <p:cNvSpPr>
            <a:spLocks noGrp="1"/>
          </p:cNvSpPr>
          <p:nvPr>
            <p:ph type="sldNum" idx="29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713E9C-1305-43B3-888E-928C6411D0BD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22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Text 0"/>
          <p:cNvSpPr/>
          <p:nvPr/>
        </p:nvSpPr>
        <p:spPr>
          <a:xfrm>
            <a:off x="713160" y="384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201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KEY TAKEAWAYS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"/>
          <p:cNvSpPr/>
          <p:nvPr/>
        </p:nvSpPr>
        <p:spPr>
          <a:xfrm>
            <a:off x="713160" y="777240"/>
            <a:ext cx="107895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8FC"/>
                </a:solidFill>
                <a:effectLst/>
                <a:uFillTx/>
                <a:latin typeface="Aptos"/>
                <a:ea typeface="Aptos"/>
              </a:rPr>
              <a:t>VERITAS turns a debate into inspectable, persistent data.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2"/>
          <p:cNvSpPr/>
          <p:nvPr/>
        </p:nvSpPr>
        <p:spPr>
          <a:xfrm>
            <a:off x="749880" y="187452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3"/>
          <p:cNvSpPr/>
          <p:nvPr/>
        </p:nvSpPr>
        <p:spPr>
          <a:xfrm>
            <a:off x="941760" y="2011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4"/>
          <p:cNvSpPr/>
          <p:nvPr/>
        </p:nvSpPr>
        <p:spPr>
          <a:xfrm>
            <a:off x="1627560" y="200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Structure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5"/>
          <p:cNvSpPr/>
          <p:nvPr/>
        </p:nvSpPr>
        <p:spPr>
          <a:xfrm>
            <a:off x="2880360" y="199332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Claims, evidence, counterarguments and conflicts are first-class records.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6"/>
          <p:cNvSpPr/>
          <p:nvPr/>
        </p:nvSpPr>
        <p:spPr>
          <a:xfrm>
            <a:off x="749880" y="269748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7"/>
          <p:cNvSpPr/>
          <p:nvPr/>
        </p:nvSpPr>
        <p:spPr>
          <a:xfrm>
            <a:off x="941760" y="28346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8"/>
          <p:cNvSpPr/>
          <p:nvPr/>
        </p:nvSpPr>
        <p:spPr>
          <a:xfrm>
            <a:off x="1627560" y="28256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99CFF"/>
                </a:solidFill>
                <a:effectLst/>
                <a:uFillTx/>
                <a:latin typeface="Aptos"/>
                <a:ea typeface="Aptos"/>
              </a:rPr>
              <a:t>Explain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9"/>
          <p:cNvSpPr/>
          <p:nvPr/>
        </p:nvSpPr>
        <p:spPr>
          <a:xfrm>
            <a:off x="2880360" y="281628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Scores expose their input factors; synthesis preserves uncertainty.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10"/>
          <p:cNvSpPr/>
          <p:nvPr/>
        </p:nvSpPr>
        <p:spPr>
          <a:xfrm>
            <a:off x="749880" y="352044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11"/>
          <p:cNvSpPr/>
          <p:nvPr/>
        </p:nvSpPr>
        <p:spPr>
          <a:xfrm>
            <a:off x="941760" y="3657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12"/>
          <p:cNvSpPr/>
          <p:nvPr/>
        </p:nvSpPr>
        <p:spPr>
          <a:xfrm>
            <a:off x="1627560" y="36486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0E0A4"/>
                </a:solidFill>
                <a:effectLst/>
                <a:uFillTx/>
                <a:latin typeface="Aptos"/>
                <a:ea typeface="Aptos"/>
              </a:rPr>
              <a:t>Evolve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13"/>
          <p:cNvSpPr/>
          <p:nvPr/>
        </p:nvSpPr>
        <p:spPr>
          <a:xfrm>
            <a:off x="2880360" y="363924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Selected changes are persisted as temporal snapshots.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14"/>
          <p:cNvSpPr/>
          <p:nvPr/>
        </p:nvSpPr>
        <p:spPr>
          <a:xfrm>
            <a:off x="749880" y="434340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0D1622"/>
          </a:solidFill>
          <a:ln w="10080">
            <a:solidFill>
              <a:srgbClr val="2743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15"/>
          <p:cNvSpPr/>
          <p:nvPr/>
        </p:nvSpPr>
        <p:spPr>
          <a:xfrm>
            <a:off x="941760" y="44805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16"/>
          <p:cNvSpPr/>
          <p:nvPr/>
        </p:nvSpPr>
        <p:spPr>
          <a:xfrm>
            <a:off x="1627560" y="44715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D166"/>
                </a:solidFill>
                <a:effectLst/>
                <a:uFillTx/>
                <a:latin typeface="Aptos"/>
                <a:ea typeface="Aptos"/>
              </a:rPr>
              <a:t>Demonstrate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17"/>
          <p:cNvSpPr/>
          <p:nvPr/>
        </p:nvSpPr>
        <p:spPr>
          <a:xfrm>
            <a:off x="2880360" y="446220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9F1"/>
                </a:solidFill>
                <a:effectLst/>
                <a:uFillTx/>
                <a:latin typeface="Aptos"/>
                <a:ea typeface="Aptos"/>
              </a:rPr>
              <a:t>MongoDB, FastAPI and React work together as a queryable system.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18"/>
          <p:cNvSpPr/>
          <p:nvPr/>
        </p:nvSpPr>
        <p:spPr>
          <a:xfrm>
            <a:off x="960120" y="55778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7D9FF"/>
                </a:solidFill>
                <a:effectLst/>
                <a:uFillTx/>
                <a:latin typeface="Aptos"/>
                <a:ea typeface="Aptos"/>
              </a:rPr>
              <a:t>VERITAS organizes and explains the evidence landscape — it does not declare objective truth.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19"/>
          <p:cNvSpPr/>
          <p:nvPr/>
        </p:nvSpPr>
        <p:spPr>
          <a:xfrm>
            <a:off x="960120" y="6071760"/>
            <a:ext cx="10240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CB1C0"/>
                </a:solidFill>
                <a:effectLst/>
                <a:uFillTx/>
                <a:latin typeface="Aptos"/>
                <a:ea typeface="Aptos"/>
              </a:rPr>
              <a:t>Thank you  •  Questions &amp; discussion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1"/>
          <p:cNvSpPr>
            <a:spLocks noGrp="1"/>
          </p:cNvSpPr>
          <p:nvPr>
            <p:ph type="sldNum" idx="33"/>
          </p:nvPr>
        </p:nvSpPr>
        <p:spPr>
          <a:xfrm>
            <a:off x="1120140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254D28-BBC3-4ABD-A9F1-432DA9C7D810}" type="slidenum">
              <a:rPr lang="en-US" sz="800" b="0" u="none" strike="noStrike">
                <a:solidFill>
                  <a:srgbClr val="7F97A8"/>
                </a:solidFill>
                <a:effectLst/>
                <a:uFillTx/>
                <a:latin typeface="Aptos"/>
                <a:ea typeface="Aptos"/>
              </a:rPr>
              <a:t>23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2632</Words>
  <Application>Microsoft Office PowerPoint</Application>
  <PresentationFormat>Widescreen</PresentationFormat>
  <Paragraphs>591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Consolas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NAMAN</dc:creator>
  <cp:lastModifiedBy>Naman Sharma</cp:lastModifiedBy>
  <cp:revision>2</cp:revision>
  <dcterms:modified xsi:type="dcterms:W3CDTF">2026-10-21T17:30:56Z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2026-10-21T17:02:22Z</dcterms:created>
  <dc:creator>VERITAS Project Team</dc:creator>
  <dc:description/>
  <dc:language>en-US</dc:language>
  <cp:lastModifiedBy>VERITAS Project Team</cp:lastModifiedBy>
  <dcterms:modified xsi:type="dcterms:W3CDTF">2026-10-21T17:02:22Z</dcterms:modified>
  <cp:revision>1</cp:revision>
  <dc:subject>Faculty demonstration of the VERITAS project</dc:subject>
  <dc:title>VERITAS — End-to-End Project Demonstration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30</vt:r8>
  </property>
  <property fmtid="{D5CDD505-2E9C-101B-9397-08002B2CF9AE}" pid="3" name="PresentationFormat">
    <vt:lpwstr>On-screen Show (16:9)</vt:lpwstr>
  </property>
  <property fmtid="{D5CDD505-2E9C-101B-9397-08002B2CF9AE}" pid="4" name="Slides">
    <vt:r8>30</vt:r8>
  </property>
</Properties>
</file>